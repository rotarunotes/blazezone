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iCgUzD/BZuPZopKIA5kCE/NfeF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it-IT"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a" type="blank">
  <p:cSld name="BLANK">
    <p:spTree>
      <p:nvGrpSpPr>
        <p:cNvPr id="15" name="Shape 15"/>
        <p:cNvGrpSpPr/>
        <p:nvPr/>
      </p:nvGrpSpPr>
      <p:grpSpPr>
        <a:xfrm>
          <a:off x="0" y="0"/>
          <a:ext cx="0" cy="0"/>
          <a:chOff x="0" y="0"/>
          <a:chExt cx="0" cy="0"/>
        </a:xfrm>
      </p:grpSpPr>
      <p:sp>
        <p:nvSpPr>
          <p:cNvPr id="16" name="Google Shape;16;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type="title">
  <p:cSld name="TITLE">
    <p:spTree>
      <p:nvGrpSpPr>
        <p:cNvPr id="19" name="Shape 19"/>
        <p:cNvGrpSpPr/>
        <p:nvPr/>
      </p:nvGrpSpPr>
      <p:grpSpPr>
        <a:xfrm>
          <a:off x="0" y="0"/>
          <a:ext cx="0" cy="0"/>
          <a:chOff x="0" y="0"/>
          <a:chExt cx="0" cy="0"/>
        </a:xfrm>
      </p:grpSpPr>
      <p:sp>
        <p:nvSpPr>
          <p:cNvPr id="20" name="Google Shape;20;p1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25" name="Shape 25"/>
        <p:cNvGrpSpPr/>
        <p:nvPr/>
      </p:nvGrpSpPr>
      <p:grpSpPr>
        <a:xfrm>
          <a:off x="0" y="0"/>
          <a:ext cx="0" cy="0"/>
          <a:chOff x="0" y="0"/>
          <a:chExt cx="0" cy="0"/>
        </a:xfrm>
      </p:grpSpPr>
      <p:sp>
        <p:nvSpPr>
          <p:cNvPr id="26" name="Google Shape;2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sezione" type="secHead">
  <p:cSld name="SECTION_HEADER">
    <p:spTree>
      <p:nvGrpSpPr>
        <p:cNvPr id="31" name="Shape 31"/>
        <p:cNvGrpSpPr/>
        <p:nvPr/>
      </p:nvGrpSpPr>
      <p:grpSpPr>
        <a:xfrm>
          <a:off x="0" y="0"/>
          <a:ext cx="0" cy="0"/>
          <a:chOff x="0" y="0"/>
          <a:chExt cx="0" cy="0"/>
        </a:xfrm>
      </p:grpSpPr>
      <p:sp>
        <p:nvSpPr>
          <p:cNvPr id="32" name="Google Shape;32;p1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e contenuti" type="twoObj">
  <p:cSld name="TWO_OBJECTS">
    <p:spTree>
      <p:nvGrpSpPr>
        <p:cNvPr id="37" name="Shape 37"/>
        <p:cNvGrpSpPr/>
        <p:nvPr/>
      </p:nvGrpSpPr>
      <p:grpSpPr>
        <a:xfrm>
          <a:off x="0" y="0"/>
          <a:ext cx="0" cy="0"/>
          <a:chOff x="0" y="0"/>
          <a:chExt cx="0" cy="0"/>
        </a:xfrm>
      </p:grpSpPr>
      <p:sp>
        <p:nvSpPr>
          <p:cNvPr id="38" name="Google Shape;38;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type="twoTxTwoObj">
  <p:cSld name="TWO_OBJECTS_WITH_TEXT">
    <p:spTree>
      <p:nvGrpSpPr>
        <p:cNvPr id="44" name="Shape 44"/>
        <p:cNvGrpSpPr/>
        <p:nvPr/>
      </p:nvGrpSpPr>
      <p:grpSpPr>
        <a:xfrm>
          <a:off x="0" y="0"/>
          <a:ext cx="0" cy="0"/>
          <a:chOff x="0" y="0"/>
          <a:chExt cx="0" cy="0"/>
        </a:xfrm>
      </p:grpSpPr>
      <p:sp>
        <p:nvSpPr>
          <p:cNvPr id="45" name="Google Shape;45;p1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1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1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1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53" name="Shape 53"/>
        <p:cNvGrpSpPr/>
        <p:nvPr/>
      </p:nvGrpSpPr>
      <p:grpSpPr>
        <a:xfrm>
          <a:off x="0" y="0"/>
          <a:ext cx="0" cy="0"/>
          <a:chOff x="0" y="0"/>
          <a:chExt cx="0" cy="0"/>
        </a:xfrm>
      </p:grpSpPr>
      <p:sp>
        <p:nvSpPr>
          <p:cNvPr id="54" name="Google Shape;54;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con didascalia" type="objTx">
  <p:cSld name="OBJECT_WITH_CAPTION_TEXT">
    <p:spTree>
      <p:nvGrpSpPr>
        <p:cNvPr id="58" name="Shape 58"/>
        <p:cNvGrpSpPr/>
        <p:nvPr/>
      </p:nvGrpSpPr>
      <p:grpSpPr>
        <a:xfrm>
          <a:off x="0" y="0"/>
          <a:ext cx="0" cy="0"/>
          <a:chOff x="0" y="0"/>
          <a:chExt cx="0" cy="0"/>
        </a:xfrm>
      </p:grpSpPr>
      <p:sp>
        <p:nvSpPr>
          <p:cNvPr id="59" name="Google Shape;59;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e con didascalia" type="picTx">
  <p:cSld name="PICTURE_WITH_CAPTION_TEXT">
    <p:spTree>
      <p:nvGrpSpPr>
        <p:cNvPr id="65" name="Shape 65"/>
        <p:cNvGrpSpPr/>
        <p:nvPr/>
      </p:nvGrpSpPr>
      <p:grpSpPr>
        <a:xfrm>
          <a:off x="0" y="0"/>
          <a:ext cx="0" cy="0"/>
          <a:chOff x="0" y="0"/>
          <a:chExt cx="0" cy="0"/>
        </a:xfrm>
      </p:grpSpPr>
      <p:sp>
        <p:nvSpPr>
          <p:cNvPr id="66" name="Google Shape;66;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1"/>
          <p:cNvSpPr/>
          <p:nvPr>
            <p:ph idx="2" type="pic"/>
          </p:nvPr>
        </p:nvSpPr>
        <p:spPr>
          <a:xfrm>
            <a:off x="5183188" y="987425"/>
            <a:ext cx="6172200" cy="4873625"/>
          </a:xfrm>
          <a:prstGeom prst="rect">
            <a:avLst/>
          </a:prstGeom>
          <a:noFill/>
          <a:ln>
            <a:noFill/>
          </a:ln>
        </p:spPr>
      </p:sp>
      <p:sp>
        <p:nvSpPr>
          <p:cNvPr id="68" name="Google Shape;68;p2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esto verticale" type="vertTx">
  <p:cSld name="VERTICAL_TEXT">
    <p:spTree>
      <p:nvGrpSpPr>
        <p:cNvPr id="72" name="Shape 72"/>
        <p:cNvGrpSpPr/>
        <p:nvPr/>
      </p:nvGrpSpPr>
      <p:grpSpPr>
        <a:xfrm>
          <a:off x="0" y="0"/>
          <a:ext cx="0" cy="0"/>
          <a:chOff x="0" y="0"/>
          <a:chExt cx="0" cy="0"/>
        </a:xfrm>
      </p:grpSpPr>
      <p:sp>
        <p:nvSpPr>
          <p:cNvPr id="73" name="Google Shape;73;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olo e testo verticale" type="vertTitleAndTx">
  <p:cSld name="VERTICAL_TITLE_AND_VERTICAL_TEXT">
    <p:spTree>
      <p:nvGrpSpPr>
        <p:cNvPr id="78" name="Shape 78"/>
        <p:cNvGrpSpPr/>
        <p:nvPr/>
      </p:nvGrpSpPr>
      <p:grpSpPr>
        <a:xfrm>
          <a:off x="0" y="0"/>
          <a:ext cx="0" cy="0"/>
          <a:chOff x="0" y="0"/>
          <a:chExt cx="0" cy="0"/>
        </a:xfrm>
      </p:grpSpPr>
      <p:sp>
        <p:nvSpPr>
          <p:cNvPr id="79" name="Google Shape;79;p2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IT"/>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5.png"/><Relationship Id="rId7"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p:nvPr/>
        </p:nvSpPr>
        <p:spPr>
          <a:xfrm>
            <a:off x="0" y="863485"/>
            <a:ext cx="12192000" cy="45719"/>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9" name="Google Shape;89;p1"/>
          <p:cNvSpPr/>
          <p:nvPr/>
        </p:nvSpPr>
        <p:spPr>
          <a:xfrm>
            <a:off x="0" y="6408421"/>
            <a:ext cx="12192000" cy="449580"/>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it-IT" sz="2000" u="none" cap="none" strike="noStrike">
                <a:solidFill>
                  <a:schemeClr val="dk1"/>
                </a:solidFill>
                <a:latin typeface="Calibri"/>
                <a:ea typeface="Calibri"/>
                <a:cs typeface="Calibri"/>
                <a:sym typeface="Calibri"/>
              </a:rPr>
              <a:t>ZANARDELLI ALESSIO</a:t>
            </a:r>
            <a:endParaRPr/>
          </a:p>
        </p:txBody>
      </p:sp>
      <p:sp>
        <p:nvSpPr>
          <p:cNvPr id="90" name="Google Shape;90;p1"/>
          <p:cNvSpPr txBox="1"/>
          <p:nvPr/>
        </p:nvSpPr>
        <p:spPr>
          <a:xfrm>
            <a:off x="3465922" y="2875002"/>
            <a:ext cx="5260159" cy="110799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it-IT" sz="6600" u="none" cap="none" strike="noStrike">
                <a:solidFill>
                  <a:schemeClr val="dk1"/>
                </a:solidFill>
                <a:latin typeface="Calibri"/>
                <a:ea typeface="Calibri"/>
                <a:cs typeface="Calibri"/>
                <a:sym typeface="Calibri"/>
              </a:rPr>
              <a:t>CRITTOGRAFIA</a:t>
            </a:r>
            <a:endParaRPr/>
          </a:p>
        </p:txBody>
      </p:sp>
      <p:pic>
        <p:nvPicPr>
          <p:cNvPr descr="Immagine che contiene Elementi grafici, cerchio, Policromia&#10;&#10;Il contenuto generato dall&amp;#39;IA potrebbe non essere corretto." id="91" name="Google Shape;91;p1"/>
          <p:cNvPicPr preferRelativeResize="0"/>
          <p:nvPr/>
        </p:nvPicPr>
        <p:blipFill rotWithShape="1">
          <a:blip r:embed="rId3">
            <a:alphaModFix/>
          </a:blip>
          <a:srcRect b="0" l="0" r="0" t="0"/>
          <a:stretch/>
        </p:blipFill>
        <p:spPr>
          <a:xfrm>
            <a:off x="5728855" y="65294"/>
            <a:ext cx="741219" cy="73532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p:nvPr/>
        </p:nvSpPr>
        <p:spPr>
          <a:xfrm>
            <a:off x="0" y="863485"/>
            <a:ext cx="12192000" cy="45719"/>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8" name="Google Shape;98;p2"/>
          <p:cNvSpPr/>
          <p:nvPr/>
        </p:nvSpPr>
        <p:spPr>
          <a:xfrm>
            <a:off x="0" y="6408421"/>
            <a:ext cx="12192000" cy="449580"/>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it-IT" sz="2000" u="none" cap="none" strike="noStrike">
                <a:solidFill>
                  <a:schemeClr val="dk1"/>
                </a:solidFill>
                <a:latin typeface="Calibri"/>
                <a:ea typeface="Calibri"/>
                <a:cs typeface="Calibri"/>
                <a:sym typeface="Calibri"/>
              </a:rPr>
              <a:t>ZANARDELLI ALESSIO</a:t>
            </a:r>
            <a:endParaRPr/>
          </a:p>
        </p:txBody>
      </p:sp>
      <p:sp>
        <p:nvSpPr>
          <p:cNvPr id="99" name="Google Shape;99;p2"/>
          <p:cNvSpPr txBox="1"/>
          <p:nvPr/>
        </p:nvSpPr>
        <p:spPr>
          <a:xfrm>
            <a:off x="95250" y="69097"/>
            <a:ext cx="9934575" cy="707886"/>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it-IT" sz="4000" u="none" cap="none" strike="noStrike">
                <a:solidFill>
                  <a:srgbClr val="FF0000"/>
                </a:solidFill>
                <a:latin typeface="Calibri"/>
                <a:ea typeface="Calibri"/>
                <a:cs typeface="Calibri"/>
                <a:sym typeface="Calibri"/>
              </a:rPr>
              <a:t>LA CRITTOGRAFIA</a:t>
            </a:r>
            <a:endParaRPr/>
          </a:p>
        </p:txBody>
      </p:sp>
      <p:sp>
        <p:nvSpPr>
          <p:cNvPr id="100" name="Google Shape;100;p2"/>
          <p:cNvSpPr txBox="1"/>
          <p:nvPr/>
        </p:nvSpPr>
        <p:spPr>
          <a:xfrm>
            <a:off x="2884" y="909204"/>
            <a:ext cx="12189116" cy="489364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La crittografia (o criptografia) è la branca della crittologia che tratta i metodi per rendere un messaggio non comprensibile a persone non autorizzate a leggerlo.</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Tecniche di crittografia:</a:t>
            </a:r>
            <a:endParaRPr/>
          </a:p>
          <a:p>
            <a:pPr indent="-342900" lvl="1" marL="800100" marR="0" rtl="0" algn="l">
              <a:spcBef>
                <a:spcPts val="0"/>
              </a:spcBef>
              <a:spcAft>
                <a:spcPts val="0"/>
              </a:spcAft>
              <a:buClr>
                <a:schemeClr val="dk1"/>
              </a:buClr>
              <a:buSzPts val="2400"/>
              <a:buFont typeface="Arial"/>
              <a:buChar char="•"/>
            </a:pPr>
            <a:r>
              <a:rPr b="0" i="0" lang="it-IT" sz="2400" u="none" cap="none" strike="noStrike">
                <a:solidFill>
                  <a:schemeClr val="dk1"/>
                </a:solidFill>
                <a:latin typeface="Calibri"/>
                <a:ea typeface="Calibri"/>
                <a:cs typeface="Calibri"/>
                <a:sym typeface="Calibri"/>
              </a:rPr>
              <a:t>Cifrario: un carattere viene trasformato in un altro carattere</a:t>
            </a:r>
            <a:endParaRPr/>
          </a:p>
          <a:p>
            <a:pPr indent="-342900" lvl="1" marL="800100" marR="0" rtl="0" algn="l">
              <a:spcBef>
                <a:spcPts val="0"/>
              </a:spcBef>
              <a:spcAft>
                <a:spcPts val="0"/>
              </a:spcAft>
              <a:buClr>
                <a:schemeClr val="dk1"/>
              </a:buClr>
              <a:buSzPts val="2400"/>
              <a:buFont typeface="Arial"/>
              <a:buChar char="•"/>
            </a:pPr>
            <a:r>
              <a:rPr b="0" i="0" lang="it-IT" sz="2400" u="none" cap="none" strike="noStrike">
                <a:solidFill>
                  <a:schemeClr val="dk1"/>
                </a:solidFill>
                <a:latin typeface="Calibri"/>
                <a:ea typeface="Calibri"/>
                <a:cs typeface="Calibri"/>
                <a:sym typeface="Calibri"/>
              </a:rPr>
              <a:t>Codice: un carattere rappresenta un concetto</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Questo garantisce la </a:t>
            </a:r>
            <a:r>
              <a:rPr lang="it-IT" sz="2400" u="sng">
                <a:solidFill>
                  <a:schemeClr val="dk1"/>
                </a:solidFill>
                <a:latin typeface="Calibri"/>
                <a:ea typeface="Calibri"/>
                <a:cs typeface="Calibri"/>
                <a:sym typeface="Calibri"/>
              </a:rPr>
              <a:t>confidenzialità</a:t>
            </a:r>
            <a:r>
              <a:rPr lang="it-IT" sz="2400">
                <a:solidFill>
                  <a:schemeClr val="dk1"/>
                </a:solidFill>
                <a:latin typeface="Calibri"/>
                <a:ea typeface="Calibri"/>
                <a:cs typeface="Calibri"/>
                <a:sym typeface="Calibri"/>
              </a:rPr>
              <a:t> delle informazioni che è uno dei requisiti essenziali nell'ambito della sicurezza informatica.</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La steganografia, invece, è l’insieme delle tecniche che permettono di nascondere il messaggio senza che questo venga modificato.</a:t>
            </a:r>
            <a:endParaRPr sz="2400">
              <a:solidFill>
                <a:schemeClr val="dk1"/>
              </a:solidFill>
              <a:latin typeface="Calibri"/>
              <a:ea typeface="Calibri"/>
              <a:cs typeface="Calibri"/>
              <a:sym typeface="Calibri"/>
            </a:endParaRPr>
          </a:p>
        </p:txBody>
      </p:sp>
      <p:pic>
        <p:nvPicPr>
          <p:cNvPr descr="Cos'è la crittografia e perché è importante per la protezione dei dati in  azienda - Dgroove" id="101" name="Google Shape;101;p2"/>
          <p:cNvPicPr preferRelativeResize="0"/>
          <p:nvPr/>
        </p:nvPicPr>
        <p:blipFill rotWithShape="1">
          <a:blip r:embed="rId3">
            <a:alphaModFix/>
          </a:blip>
          <a:srcRect b="0" l="0" r="0" t="0"/>
          <a:stretch/>
        </p:blipFill>
        <p:spPr>
          <a:xfrm>
            <a:off x="9241772" y="1982937"/>
            <a:ext cx="2619375" cy="1743075"/>
          </a:xfrm>
          <a:prstGeom prst="rect">
            <a:avLst/>
          </a:prstGeom>
          <a:noFill/>
          <a:ln>
            <a:noFill/>
          </a:ln>
        </p:spPr>
      </p:pic>
      <p:pic>
        <p:nvPicPr>
          <p:cNvPr descr="Immagine che contiene Elementi grafici, cerchio, Policromia&#10;&#10;Il contenuto generato dall&amp;#39;IA potrebbe non essere corretto." id="102" name="Google Shape;102;p2"/>
          <p:cNvPicPr preferRelativeResize="0"/>
          <p:nvPr/>
        </p:nvPicPr>
        <p:blipFill rotWithShape="1">
          <a:blip r:embed="rId4">
            <a:alphaModFix/>
          </a:blip>
          <a:srcRect b="0" l="0" r="0" t="0"/>
          <a:stretch/>
        </p:blipFill>
        <p:spPr>
          <a:xfrm>
            <a:off x="11312237" y="58367"/>
            <a:ext cx="741219" cy="73532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3"/>
          <p:cNvSpPr/>
          <p:nvPr/>
        </p:nvSpPr>
        <p:spPr>
          <a:xfrm>
            <a:off x="0" y="863485"/>
            <a:ext cx="12192000" cy="45719"/>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 name="Google Shape;109;p3"/>
          <p:cNvSpPr/>
          <p:nvPr/>
        </p:nvSpPr>
        <p:spPr>
          <a:xfrm>
            <a:off x="0" y="6408421"/>
            <a:ext cx="12192000" cy="449580"/>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2000">
                <a:solidFill>
                  <a:schemeClr val="dk1"/>
                </a:solidFill>
                <a:latin typeface="Calibri"/>
                <a:ea typeface="Calibri"/>
                <a:cs typeface="Calibri"/>
                <a:sym typeface="Calibri"/>
              </a:rPr>
              <a:t>ZANARDELLI ALESSIO</a:t>
            </a:r>
            <a:endParaRPr/>
          </a:p>
        </p:txBody>
      </p:sp>
      <p:sp>
        <p:nvSpPr>
          <p:cNvPr id="110" name="Google Shape;110;p3"/>
          <p:cNvSpPr txBox="1"/>
          <p:nvPr/>
        </p:nvSpPr>
        <p:spPr>
          <a:xfrm>
            <a:off x="95250" y="69097"/>
            <a:ext cx="9934575" cy="707886"/>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it-IT" sz="4000">
                <a:solidFill>
                  <a:srgbClr val="FF0000"/>
                </a:solidFill>
                <a:latin typeface="Calibri"/>
                <a:ea typeface="Calibri"/>
                <a:cs typeface="Calibri"/>
                <a:sym typeface="Calibri"/>
              </a:rPr>
              <a:t>LA CRITTOGRAFIA</a:t>
            </a:r>
            <a:endParaRPr/>
          </a:p>
        </p:txBody>
      </p:sp>
      <p:sp>
        <p:nvSpPr>
          <p:cNvPr id="111" name="Google Shape;111;p3"/>
          <p:cNvSpPr txBox="1"/>
          <p:nvPr/>
        </p:nvSpPr>
        <p:spPr>
          <a:xfrm>
            <a:off x="2884" y="909204"/>
            <a:ext cx="12189116"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L'approccio inverso volto a rompere un meccanismo crittografico è detto invece crittoanalisi.</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Un sistema si può considerare sicuro anche se il suo sistema di cifratura risulta violabile, ma con tempi di realizzazione che renderebbero poi vani i successivi tentativi di attacco diretto.</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Al momento non esiste alcuna tecnica crittografica che si possa definire sicura in senso assoluto, tranne il Cifrario di Vernam (scomodo).</a:t>
            </a:r>
            <a:endParaRPr sz="2400">
              <a:solidFill>
                <a:schemeClr val="dk1"/>
              </a:solidFill>
              <a:latin typeface="Calibri"/>
              <a:ea typeface="Calibri"/>
              <a:cs typeface="Calibri"/>
              <a:sym typeface="Calibri"/>
            </a:endParaRPr>
          </a:p>
        </p:txBody>
      </p:sp>
      <p:pic>
        <p:nvPicPr>
          <p:cNvPr descr="Immagine che contiene Elementi grafici, cerchio, Policromia&#10;&#10;Il contenuto generato dall&amp;#39;IA potrebbe non essere corretto." id="112" name="Google Shape;112;p3"/>
          <p:cNvPicPr preferRelativeResize="0"/>
          <p:nvPr/>
        </p:nvPicPr>
        <p:blipFill rotWithShape="1">
          <a:blip r:embed="rId3">
            <a:alphaModFix/>
          </a:blip>
          <a:srcRect b="0" l="0" r="0" t="0"/>
          <a:stretch/>
        </p:blipFill>
        <p:spPr>
          <a:xfrm>
            <a:off x="11312237" y="58367"/>
            <a:ext cx="741219" cy="73532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4"/>
          <p:cNvSpPr/>
          <p:nvPr/>
        </p:nvSpPr>
        <p:spPr>
          <a:xfrm>
            <a:off x="0" y="863485"/>
            <a:ext cx="12192000" cy="45719"/>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9" name="Google Shape;119;p4"/>
          <p:cNvSpPr/>
          <p:nvPr/>
        </p:nvSpPr>
        <p:spPr>
          <a:xfrm>
            <a:off x="0" y="6408421"/>
            <a:ext cx="12192000" cy="449580"/>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2000">
                <a:solidFill>
                  <a:schemeClr val="dk1"/>
                </a:solidFill>
                <a:latin typeface="Calibri"/>
                <a:ea typeface="Calibri"/>
                <a:cs typeface="Calibri"/>
                <a:sym typeface="Calibri"/>
              </a:rPr>
              <a:t>ZANARDELLI ALESSIO</a:t>
            </a:r>
            <a:endParaRPr/>
          </a:p>
        </p:txBody>
      </p:sp>
      <p:sp>
        <p:nvSpPr>
          <p:cNvPr id="120" name="Google Shape;120;p4"/>
          <p:cNvSpPr txBox="1"/>
          <p:nvPr/>
        </p:nvSpPr>
        <p:spPr>
          <a:xfrm>
            <a:off x="95250" y="69097"/>
            <a:ext cx="9934575" cy="707886"/>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it-IT" sz="4000">
                <a:solidFill>
                  <a:srgbClr val="FF0000"/>
                </a:solidFill>
                <a:latin typeface="Calibri"/>
                <a:ea typeface="Calibri"/>
                <a:cs typeface="Calibri"/>
                <a:sym typeface="Calibri"/>
              </a:rPr>
              <a:t>INTERNET SECURITY</a:t>
            </a:r>
            <a:endParaRPr/>
          </a:p>
        </p:txBody>
      </p:sp>
      <p:sp>
        <p:nvSpPr>
          <p:cNvPr id="121" name="Google Shape;121;p4"/>
          <p:cNvSpPr txBox="1"/>
          <p:nvPr/>
        </p:nvSpPr>
        <p:spPr>
          <a:xfrm>
            <a:off x="2884" y="909204"/>
            <a:ext cx="12189116" cy="41549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Attraverso la rete pubblica vengono trasferiti dati sensibili, a questo scopo nasce l’Internet Security.</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È un insieme di misure utilizzate per proteggere i dati durante la trasmissione in rete.</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Il documento: Recommendation X.800 Security Architecture.</a:t>
            </a:r>
            <a:endParaRPr/>
          </a:p>
        </p:txBody>
      </p:sp>
      <p:pic>
        <p:nvPicPr>
          <p:cNvPr descr="Immagine che contiene Elementi grafici, cerchio, Policromia&#10;&#10;Il contenuto generato dall&amp;#39;IA potrebbe non essere corretto." id="122" name="Google Shape;122;p4"/>
          <p:cNvPicPr preferRelativeResize="0"/>
          <p:nvPr/>
        </p:nvPicPr>
        <p:blipFill rotWithShape="1">
          <a:blip r:embed="rId3">
            <a:alphaModFix/>
          </a:blip>
          <a:srcRect b="0" l="0" r="0" t="0"/>
          <a:stretch/>
        </p:blipFill>
        <p:spPr>
          <a:xfrm>
            <a:off x="11312237" y="58367"/>
            <a:ext cx="741219" cy="73532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5"/>
          <p:cNvSpPr/>
          <p:nvPr/>
        </p:nvSpPr>
        <p:spPr>
          <a:xfrm>
            <a:off x="0" y="863485"/>
            <a:ext cx="12192000" cy="45719"/>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 name="Google Shape;129;p5"/>
          <p:cNvSpPr/>
          <p:nvPr/>
        </p:nvSpPr>
        <p:spPr>
          <a:xfrm>
            <a:off x="0" y="6408421"/>
            <a:ext cx="12192000" cy="449580"/>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2000">
                <a:solidFill>
                  <a:schemeClr val="dk1"/>
                </a:solidFill>
                <a:latin typeface="Calibri"/>
                <a:ea typeface="Calibri"/>
                <a:cs typeface="Calibri"/>
                <a:sym typeface="Calibri"/>
              </a:rPr>
              <a:t>ZANARDELLI ALESSIO</a:t>
            </a:r>
            <a:endParaRPr/>
          </a:p>
        </p:txBody>
      </p:sp>
      <p:sp>
        <p:nvSpPr>
          <p:cNvPr id="130" name="Google Shape;130;p5"/>
          <p:cNvSpPr txBox="1"/>
          <p:nvPr/>
        </p:nvSpPr>
        <p:spPr>
          <a:xfrm>
            <a:off x="95250" y="69097"/>
            <a:ext cx="9934575" cy="707886"/>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it-IT" sz="4000">
                <a:solidFill>
                  <a:srgbClr val="FF0000"/>
                </a:solidFill>
                <a:latin typeface="Calibri"/>
                <a:ea typeface="Calibri"/>
                <a:cs typeface="Calibri"/>
                <a:sym typeface="Calibri"/>
              </a:rPr>
              <a:t>INTERNET SECURITY</a:t>
            </a:r>
            <a:endParaRPr/>
          </a:p>
        </p:txBody>
      </p:sp>
      <p:sp>
        <p:nvSpPr>
          <p:cNvPr id="131" name="Google Shape;131;p5"/>
          <p:cNvSpPr txBox="1"/>
          <p:nvPr/>
        </p:nvSpPr>
        <p:spPr>
          <a:xfrm>
            <a:off x="2884" y="909204"/>
            <a:ext cx="12189116" cy="489364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Recommendation X.800 Security Architecture impone dei requisiti che il sistema deve soddisfare:</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it-IT" sz="2400" u="none" cap="none" strike="noStrike">
                <a:solidFill>
                  <a:schemeClr val="dk1"/>
                </a:solidFill>
                <a:latin typeface="Calibri"/>
                <a:ea typeface="Calibri"/>
                <a:cs typeface="Calibri"/>
                <a:sym typeface="Calibri"/>
              </a:rPr>
              <a:t>AUTENTICAZIONE</a:t>
            </a:r>
            <a:endParaRPr/>
          </a:p>
          <a:p>
            <a:pPr indent="-190500" lvl="1" marL="800100" marR="0" rtl="0" algn="l">
              <a:spcBef>
                <a:spcPts val="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it-IT" sz="2400" u="none" cap="none" strike="noStrike">
                <a:solidFill>
                  <a:schemeClr val="dk1"/>
                </a:solidFill>
                <a:latin typeface="Calibri"/>
                <a:ea typeface="Calibri"/>
                <a:cs typeface="Calibri"/>
                <a:sym typeface="Calibri"/>
              </a:rPr>
              <a:t>CONTROLLO DEGLI ACCESSI</a:t>
            </a:r>
            <a:endParaRPr/>
          </a:p>
          <a:p>
            <a:pPr indent="-190500" lvl="1" marL="800100" marR="0" rtl="0" algn="l">
              <a:spcBef>
                <a:spcPts val="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it-IT" sz="2400" u="none" cap="none" strike="noStrike">
                <a:solidFill>
                  <a:schemeClr val="dk1"/>
                </a:solidFill>
                <a:latin typeface="Calibri"/>
                <a:ea typeface="Calibri"/>
                <a:cs typeface="Calibri"/>
                <a:sym typeface="Calibri"/>
              </a:rPr>
              <a:t>CONFIDENZIALITÀ</a:t>
            </a:r>
            <a:endParaRPr/>
          </a:p>
          <a:p>
            <a:pPr indent="-190500" lvl="1" marL="800100" marR="0" rtl="0" algn="l">
              <a:spcBef>
                <a:spcPts val="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it-IT" sz="2400" u="none" cap="none" strike="noStrike">
                <a:solidFill>
                  <a:schemeClr val="dk1"/>
                </a:solidFill>
                <a:latin typeface="Calibri"/>
                <a:ea typeface="Calibri"/>
                <a:cs typeface="Calibri"/>
                <a:sym typeface="Calibri"/>
              </a:rPr>
              <a:t>INTEGRITÀ DEI DATI</a:t>
            </a:r>
            <a:endParaRPr/>
          </a:p>
          <a:p>
            <a:pPr indent="-190500" lvl="1" marL="800100" marR="0" rtl="0" algn="l">
              <a:spcBef>
                <a:spcPts val="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400"/>
              <a:buFont typeface="Arial"/>
              <a:buChar char="•"/>
            </a:pPr>
            <a:r>
              <a:rPr b="0" i="0" lang="it-IT" sz="2400" u="none" cap="none" strike="noStrike">
                <a:solidFill>
                  <a:schemeClr val="dk1"/>
                </a:solidFill>
                <a:latin typeface="Calibri"/>
                <a:ea typeface="Calibri"/>
                <a:cs typeface="Calibri"/>
                <a:sym typeface="Calibri"/>
              </a:rPr>
              <a:t>NON RIPUDIABILITÀ</a:t>
            </a:r>
            <a:endParaRPr/>
          </a:p>
        </p:txBody>
      </p:sp>
      <p:pic>
        <p:nvPicPr>
          <p:cNvPr descr="Recommendation X.800 Concepts. Recommendation X.800 is a security… | by  Tyler Hargreaves | Medium" id="132" name="Google Shape;132;p5"/>
          <p:cNvPicPr preferRelativeResize="0"/>
          <p:nvPr/>
        </p:nvPicPr>
        <p:blipFill rotWithShape="1">
          <a:blip r:embed="rId3">
            <a:alphaModFix/>
          </a:blip>
          <a:srcRect b="0" l="0" r="0" t="0"/>
          <a:stretch/>
        </p:blipFill>
        <p:spPr>
          <a:xfrm>
            <a:off x="7077752" y="1856906"/>
            <a:ext cx="3125218" cy="4419294"/>
          </a:xfrm>
          <a:prstGeom prst="rect">
            <a:avLst/>
          </a:prstGeom>
          <a:noFill/>
          <a:ln cap="flat" cmpd="sng" w="9525">
            <a:solidFill>
              <a:schemeClr val="dk1"/>
            </a:solidFill>
            <a:prstDash val="solid"/>
            <a:round/>
            <a:headEnd len="sm" w="sm" type="none"/>
            <a:tailEnd len="sm" w="sm" type="none"/>
          </a:ln>
        </p:spPr>
      </p:pic>
      <p:pic>
        <p:nvPicPr>
          <p:cNvPr descr="Immagine che contiene Elementi grafici, cerchio, Policromia&#10;&#10;Il contenuto generato dall&amp;#39;IA potrebbe non essere corretto." id="133" name="Google Shape;133;p5"/>
          <p:cNvPicPr preferRelativeResize="0"/>
          <p:nvPr/>
        </p:nvPicPr>
        <p:blipFill rotWithShape="1">
          <a:blip r:embed="rId4">
            <a:alphaModFix/>
          </a:blip>
          <a:srcRect b="0" l="0" r="0" t="0"/>
          <a:stretch/>
        </p:blipFill>
        <p:spPr>
          <a:xfrm>
            <a:off x="11312237" y="58367"/>
            <a:ext cx="741219" cy="73532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6"/>
          <p:cNvSpPr/>
          <p:nvPr/>
        </p:nvSpPr>
        <p:spPr>
          <a:xfrm>
            <a:off x="0" y="863485"/>
            <a:ext cx="12192000" cy="45719"/>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0" name="Google Shape;140;p6"/>
          <p:cNvSpPr/>
          <p:nvPr/>
        </p:nvSpPr>
        <p:spPr>
          <a:xfrm>
            <a:off x="0" y="6408421"/>
            <a:ext cx="12192000" cy="449580"/>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2000">
                <a:solidFill>
                  <a:schemeClr val="dk1"/>
                </a:solidFill>
                <a:latin typeface="Calibri"/>
                <a:ea typeface="Calibri"/>
                <a:cs typeface="Calibri"/>
                <a:sym typeface="Calibri"/>
              </a:rPr>
              <a:t>ZANARDELLI ALESSIO</a:t>
            </a:r>
            <a:endParaRPr/>
          </a:p>
        </p:txBody>
      </p:sp>
      <p:sp>
        <p:nvSpPr>
          <p:cNvPr id="141" name="Google Shape;141;p6"/>
          <p:cNvSpPr txBox="1"/>
          <p:nvPr/>
        </p:nvSpPr>
        <p:spPr>
          <a:xfrm>
            <a:off x="95250" y="69097"/>
            <a:ext cx="9934575" cy="707886"/>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it-IT" sz="4000">
                <a:solidFill>
                  <a:srgbClr val="FF0000"/>
                </a:solidFill>
                <a:latin typeface="Calibri"/>
                <a:ea typeface="Calibri"/>
                <a:cs typeface="Calibri"/>
                <a:sym typeface="Calibri"/>
              </a:rPr>
              <a:t>ESEMPI DI VIOLAZIONE</a:t>
            </a:r>
            <a:endParaRPr/>
          </a:p>
        </p:txBody>
      </p:sp>
      <p:sp>
        <p:nvSpPr>
          <p:cNvPr id="142" name="Google Shape;142;p6"/>
          <p:cNvSpPr txBox="1"/>
          <p:nvPr/>
        </p:nvSpPr>
        <p:spPr>
          <a:xfrm>
            <a:off x="2884" y="909204"/>
            <a:ext cx="12189000" cy="4155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SNIFFING: la comunicazione viene ascoltata da un terzo non autorizzato (attacco passivo).</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SPOOFING: viene falsificata l’identità.</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Un terzo non autorizzato intercetta e modifica i messaggi (attacco attivo).</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DoS (Denial of Service): compromissione di servizi di rete.</a:t>
            </a:r>
            <a:endParaRPr/>
          </a:p>
        </p:txBody>
      </p:sp>
      <p:pic>
        <p:nvPicPr>
          <p:cNvPr descr="Immagine che contiene Elementi grafici, cerchio, Policromia&#10;&#10;Il contenuto generato dall&amp;#39;IA potrebbe non essere corretto." id="143" name="Google Shape;143;p6"/>
          <p:cNvPicPr preferRelativeResize="0"/>
          <p:nvPr/>
        </p:nvPicPr>
        <p:blipFill rotWithShape="1">
          <a:blip r:embed="rId3">
            <a:alphaModFix/>
          </a:blip>
          <a:srcRect b="0" l="0" r="0" t="0"/>
          <a:stretch/>
        </p:blipFill>
        <p:spPr>
          <a:xfrm>
            <a:off x="11312237" y="58367"/>
            <a:ext cx="741219" cy="73532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7"/>
          <p:cNvSpPr/>
          <p:nvPr/>
        </p:nvSpPr>
        <p:spPr>
          <a:xfrm>
            <a:off x="0" y="863485"/>
            <a:ext cx="12192000" cy="45719"/>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 name="Google Shape;150;p7"/>
          <p:cNvSpPr/>
          <p:nvPr/>
        </p:nvSpPr>
        <p:spPr>
          <a:xfrm>
            <a:off x="0" y="6408421"/>
            <a:ext cx="12192000" cy="449580"/>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2000">
                <a:solidFill>
                  <a:schemeClr val="dk1"/>
                </a:solidFill>
                <a:latin typeface="Calibri"/>
                <a:ea typeface="Calibri"/>
                <a:cs typeface="Calibri"/>
                <a:sym typeface="Calibri"/>
              </a:rPr>
              <a:t>ZANARDELLI ALESSIO</a:t>
            </a:r>
            <a:endParaRPr/>
          </a:p>
        </p:txBody>
      </p:sp>
      <p:sp>
        <p:nvSpPr>
          <p:cNvPr id="151" name="Google Shape;151;p7"/>
          <p:cNvSpPr txBox="1"/>
          <p:nvPr/>
        </p:nvSpPr>
        <p:spPr>
          <a:xfrm>
            <a:off x="95250" y="69097"/>
            <a:ext cx="9934575" cy="707886"/>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it-IT" sz="4000">
                <a:solidFill>
                  <a:srgbClr val="FF0000"/>
                </a:solidFill>
                <a:latin typeface="Calibri"/>
                <a:ea typeface="Calibri"/>
                <a:cs typeface="Calibri"/>
                <a:sym typeface="Calibri"/>
              </a:rPr>
              <a:t>SISTEMA DI CRITTOGRAFIA</a:t>
            </a:r>
            <a:endParaRPr/>
          </a:p>
        </p:txBody>
      </p:sp>
      <p:sp>
        <p:nvSpPr>
          <p:cNvPr id="152" name="Google Shape;152;p7"/>
          <p:cNvSpPr txBox="1"/>
          <p:nvPr/>
        </p:nvSpPr>
        <p:spPr>
          <a:xfrm>
            <a:off x="2884" y="909204"/>
            <a:ext cx="12189116"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Un sistema di crittografia fornisce una famiglia di algoritmi di cifratura, cioè algoritmi che possono essere utilizzati dal mittente per inviare un messaggio al destinatario attraverso un canale di comunicazione non sicuro.</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Una essenziale proprietà è che il messaggio cifrato può essere decifrato in modo efficiente solo in presenza di una informazione extra: la chiave.</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Principio di Kerckhoffs: la sicurezza di un sistema crittografico è basata esclusivamente sulla conoscenza della chiave. </a:t>
            </a:r>
            <a:endParaRPr/>
          </a:p>
        </p:txBody>
      </p:sp>
      <p:pic>
        <p:nvPicPr>
          <p:cNvPr descr="Immagine che contiene Elementi grafici, cerchio, Policromia&#10;&#10;Il contenuto generato dall&amp;#39;IA potrebbe non essere corretto." id="153" name="Google Shape;153;p7"/>
          <p:cNvPicPr preferRelativeResize="0"/>
          <p:nvPr/>
        </p:nvPicPr>
        <p:blipFill rotWithShape="1">
          <a:blip r:embed="rId3">
            <a:alphaModFix/>
          </a:blip>
          <a:srcRect b="0" l="0" r="0" t="0"/>
          <a:stretch/>
        </p:blipFill>
        <p:spPr>
          <a:xfrm>
            <a:off x="11312237" y="58367"/>
            <a:ext cx="741219" cy="73532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8"/>
          <p:cNvSpPr/>
          <p:nvPr/>
        </p:nvSpPr>
        <p:spPr>
          <a:xfrm>
            <a:off x="0" y="863485"/>
            <a:ext cx="12192000" cy="45719"/>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 name="Google Shape;160;p8"/>
          <p:cNvSpPr/>
          <p:nvPr/>
        </p:nvSpPr>
        <p:spPr>
          <a:xfrm>
            <a:off x="0" y="6408421"/>
            <a:ext cx="12192000" cy="449580"/>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2000">
                <a:solidFill>
                  <a:schemeClr val="dk1"/>
                </a:solidFill>
                <a:latin typeface="Calibri"/>
                <a:ea typeface="Calibri"/>
                <a:cs typeface="Calibri"/>
                <a:sym typeface="Calibri"/>
              </a:rPr>
              <a:t>ZANARDELLI ALESSIO</a:t>
            </a:r>
            <a:endParaRPr/>
          </a:p>
        </p:txBody>
      </p:sp>
      <p:sp>
        <p:nvSpPr>
          <p:cNvPr id="161" name="Google Shape;161;p8"/>
          <p:cNvSpPr txBox="1"/>
          <p:nvPr/>
        </p:nvSpPr>
        <p:spPr>
          <a:xfrm>
            <a:off x="95250" y="69097"/>
            <a:ext cx="9934575" cy="707886"/>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it-IT" sz="4000">
                <a:solidFill>
                  <a:srgbClr val="FF0000"/>
                </a:solidFill>
                <a:latin typeface="Calibri"/>
                <a:ea typeface="Calibri"/>
                <a:cs typeface="Calibri"/>
                <a:sym typeface="Calibri"/>
              </a:rPr>
              <a:t>SISTEMA DI CRITTOGRAFIA</a:t>
            </a:r>
            <a:endParaRPr/>
          </a:p>
        </p:txBody>
      </p:sp>
      <p:sp>
        <p:nvSpPr>
          <p:cNvPr id="162" name="Google Shape;162;p8"/>
          <p:cNvSpPr txBox="1"/>
          <p:nvPr/>
        </p:nvSpPr>
        <p:spPr>
          <a:xfrm>
            <a:off x="2884" y="909204"/>
            <a:ext cx="12189116"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Un sistema di crittografia fornisce una famiglia di algoritmi di cifratura, cioè algoritmi che possono essere utilizzati dal mittente per inviare un messaggio al destinatario attraverso un canale di comunicazione non sicuro.</a:t>
            </a:r>
            <a:endParaRPr/>
          </a:p>
        </p:txBody>
      </p:sp>
      <p:pic>
        <p:nvPicPr>
          <p:cNvPr descr="Profilo femminile con riempimento a tinta unita" id="163" name="Google Shape;163;p8"/>
          <p:cNvPicPr preferRelativeResize="0"/>
          <p:nvPr/>
        </p:nvPicPr>
        <p:blipFill rotWithShape="1">
          <a:blip r:embed="rId3">
            <a:alphaModFix/>
          </a:blip>
          <a:srcRect b="0" l="0" r="0" t="0"/>
          <a:stretch/>
        </p:blipFill>
        <p:spPr>
          <a:xfrm>
            <a:off x="1129090" y="2582274"/>
            <a:ext cx="1800000" cy="1800000"/>
          </a:xfrm>
          <a:prstGeom prst="rect">
            <a:avLst/>
          </a:prstGeom>
          <a:noFill/>
          <a:ln>
            <a:noFill/>
          </a:ln>
        </p:spPr>
      </p:pic>
      <p:pic>
        <p:nvPicPr>
          <p:cNvPr descr="Profilo maschile con riempimento a tinta unita" id="164" name="Google Shape;164;p8"/>
          <p:cNvPicPr preferRelativeResize="0"/>
          <p:nvPr/>
        </p:nvPicPr>
        <p:blipFill rotWithShape="1">
          <a:blip r:embed="rId4">
            <a:alphaModFix/>
          </a:blip>
          <a:srcRect b="0" l="0" r="0" t="0"/>
          <a:stretch/>
        </p:blipFill>
        <p:spPr>
          <a:xfrm>
            <a:off x="8740127" y="2582274"/>
            <a:ext cx="1800000" cy="1800000"/>
          </a:xfrm>
          <a:prstGeom prst="rect">
            <a:avLst/>
          </a:prstGeom>
          <a:noFill/>
          <a:ln>
            <a:noFill/>
          </a:ln>
        </p:spPr>
      </p:pic>
      <p:sp>
        <p:nvSpPr>
          <p:cNvPr id="165" name="Google Shape;165;p8"/>
          <p:cNvSpPr/>
          <p:nvPr/>
        </p:nvSpPr>
        <p:spPr>
          <a:xfrm rot="5400000">
            <a:off x="5581560" y="1456688"/>
            <a:ext cx="506095" cy="3734284"/>
          </a:xfrm>
          <a:prstGeom prst="can">
            <a:avLst>
              <a:gd fmla="val 25000" name="adj"/>
            </a:avLst>
          </a:prstGeom>
          <a:solidFill>
            <a:schemeClr val="accent1"/>
          </a:solidFill>
          <a:ln cap="flat" cmpd="sng" w="12700">
            <a:solidFill>
              <a:srgbClr val="1C305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8"/>
          <p:cNvSpPr txBox="1"/>
          <p:nvPr/>
        </p:nvSpPr>
        <p:spPr>
          <a:xfrm>
            <a:off x="4030717" y="3070770"/>
            <a:ext cx="3544498" cy="50609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800">
                <a:solidFill>
                  <a:schemeClr val="lt1"/>
                </a:solidFill>
                <a:latin typeface="Calibri"/>
                <a:ea typeface="Calibri"/>
                <a:cs typeface="Calibri"/>
                <a:sym typeface="Calibri"/>
              </a:rPr>
              <a:t>CANALE NON SICURO</a:t>
            </a:r>
            <a:endParaRPr/>
          </a:p>
        </p:txBody>
      </p:sp>
      <p:pic>
        <p:nvPicPr>
          <p:cNvPr descr="Detective (maschile) con riempimento a tinta unita" id="167" name="Google Shape;167;p8"/>
          <p:cNvPicPr preferRelativeResize="0"/>
          <p:nvPr/>
        </p:nvPicPr>
        <p:blipFill rotWithShape="1">
          <a:blip r:embed="rId5">
            <a:alphaModFix/>
          </a:blip>
          <a:srcRect b="0" l="0" r="0" t="0"/>
          <a:stretch/>
        </p:blipFill>
        <p:spPr>
          <a:xfrm>
            <a:off x="6054605" y="3740747"/>
            <a:ext cx="1800000" cy="1800000"/>
          </a:xfrm>
          <a:prstGeom prst="rect">
            <a:avLst/>
          </a:prstGeom>
          <a:noFill/>
          <a:ln>
            <a:noFill/>
          </a:ln>
        </p:spPr>
      </p:pic>
      <p:sp>
        <p:nvSpPr>
          <p:cNvPr id="168" name="Google Shape;168;p8"/>
          <p:cNvSpPr txBox="1"/>
          <p:nvPr/>
        </p:nvSpPr>
        <p:spPr>
          <a:xfrm>
            <a:off x="1444378" y="4136432"/>
            <a:ext cx="1169423" cy="129266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it-IT" sz="2400">
                <a:solidFill>
                  <a:schemeClr val="dk1"/>
                </a:solidFill>
                <a:latin typeface="Calibri"/>
                <a:ea typeface="Calibri"/>
                <a:cs typeface="Calibri"/>
                <a:sym typeface="Calibri"/>
              </a:rPr>
              <a:t>Alice</a:t>
            </a:r>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messaggio</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algoritmo</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chiave</a:t>
            </a:r>
            <a:endParaRPr sz="2000">
              <a:solidFill>
                <a:schemeClr val="dk1"/>
              </a:solidFill>
              <a:latin typeface="Calibri"/>
              <a:ea typeface="Calibri"/>
              <a:cs typeface="Calibri"/>
              <a:sym typeface="Calibri"/>
            </a:endParaRPr>
          </a:p>
        </p:txBody>
      </p:sp>
      <p:sp>
        <p:nvSpPr>
          <p:cNvPr id="169" name="Google Shape;169;p8"/>
          <p:cNvSpPr txBox="1"/>
          <p:nvPr/>
        </p:nvSpPr>
        <p:spPr>
          <a:xfrm>
            <a:off x="9055415" y="4139549"/>
            <a:ext cx="1169423" cy="129266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it-IT" sz="2400">
                <a:solidFill>
                  <a:schemeClr val="dk1"/>
                </a:solidFill>
                <a:latin typeface="Calibri"/>
                <a:ea typeface="Calibri"/>
                <a:cs typeface="Calibri"/>
                <a:sym typeface="Calibri"/>
              </a:rPr>
              <a:t>Bob</a:t>
            </a:r>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messaggio</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algoritmo</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chiave</a:t>
            </a:r>
            <a:endParaRPr sz="2000">
              <a:solidFill>
                <a:schemeClr val="dk1"/>
              </a:solidFill>
              <a:latin typeface="Calibri"/>
              <a:ea typeface="Calibri"/>
              <a:cs typeface="Calibri"/>
              <a:sym typeface="Calibri"/>
            </a:endParaRPr>
          </a:p>
        </p:txBody>
      </p:sp>
      <p:sp>
        <p:nvSpPr>
          <p:cNvPr id="170" name="Google Shape;170;p8"/>
          <p:cNvSpPr txBox="1"/>
          <p:nvPr/>
        </p:nvSpPr>
        <p:spPr>
          <a:xfrm>
            <a:off x="6042624" y="5392758"/>
            <a:ext cx="1823961"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it-IT" sz="2400">
                <a:solidFill>
                  <a:schemeClr val="dk1"/>
                </a:solidFill>
                <a:latin typeface="Calibri"/>
                <a:ea typeface="Calibri"/>
                <a:cs typeface="Calibri"/>
                <a:sym typeface="Calibri"/>
              </a:rPr>
              <a:t>Charlie</a:t>
            </a:r>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messaggio cifrato</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algoritmo</a:t>
            </a:r>
            <a:endParaRPr sz="1800">
              <a:solidFill>
                <a:schemeClr val="dk1"/>
              </a:solidFill>
              <a:latin typeface="Calibri"/>
              <a:ea typeface="Calibri"/>
              <a:cs typeface="Calibri"/>
              <a:sym typeface="Calibri"/>
            </a:endParaRPr>
          </a:p>
        </p:txBody>
      </p:sp>
      <p:pic>
        <p:nvPicPr>
          <p:cNvPr descr="Occhiali da sole con riempimento a tinta unita" id="171" name="Google Shape;171;p8"/>
          <p:cNvPicPr preferRelativeResize="0"/>
          <p:nvPr/>
        </p:nvPicPr>
        <p:blipFill rotWithShape="1">
          <a:blip r:embed="rId6">
            <a:alphaModFix/>
          </a:blip>
          <a:srcRect b="0" l="0" r="0" t="0"/>
          <a:stretch/>
        </p:blipFill>
        <p:spPr>
          <a:xfrm>
            <a:off x="6684604" y="4112444"/>
            <a:ext cx="540000" cy="540000"/>
          </a:xfrm>
          <a:prstGeom prst="rect">
            <a:avLst/>
          </a:prstGeom>
          <a:noFill/>
          <a:ln>
            <a:noFill/>
          </a:ln>
        </p:spPr>
      </p:pic>
      <p:sp>
        <p:nvSpPr>
          <p:cNvPr id="172" name="Google Shape;172;p8"/>
          <p:cNvSpPr/>
          <p:nvPr/>
        </p:nvSpPr>
        <p:spPr>
          <a:xfrm rot="-2624886">
            <a:off x="6200562" y="3643123"/>
            <a:ext cx="126207" cy="525771"/>
          </a:xfrm>
          <a:prstGeom prst="upDownArrow">
            <a:avLst>
              <a:gd fmla="val 33979" name="adj1"/>
              <a:gd fmla="val 92969" name="adj2"/>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Immagine che contiene Elementi grafici, cerchio, Policromia&#10;&#10;Il contenuto generato dall&amp;#39;IA potrebbe non essere corretto." id="173" name="Google Shape;173;p8"/>
          <p:cNvPicPr preferRelativeResize="0"/>
          <p:nvPr/>
        </p:nvPicPr>
        <p:blipFill rotWithShape="1">
          <a:blip r:embed="rId7">
            <a:alphaModFix/>
          </a:blip>
          <a:srcRect b="0" l="0" r="0" t="0"/>
          <a:stretch/>
        </p:blipFill>
        <p:spPr>
          <a:xfrm>
            <a:off x="11312237" y="58367"/>
            <a:ext cx="741219" cy="73532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9"/>
          <p:cNvSpPr/>
          <p:nvPr/>
        </p:nvSpPr>
        <p:spPr>
          <a:xfrm>
            <a:off x="0" y="863485"/>
            <a:ext cx="12192000" cy="45719"/>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0" name="Google Shape;180;p9"/>
          <p:cNvSpPr/>
          <p:nvPr/>
        </p:nvSpPr>
        <p:spPr>
          <a:xfrm>
            <a:off x="0" y="6408421"/>
            <a:ext cx="12192000" cy="449580"/>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2000">
                <a:solidFill>
                  <a:schemeClr val="dk1"/>
                </a:solidFill>
                <a:latin typeface="Calibri"/>
                <a:ea typeface="Calibri"/>
                <a:cs typeface="Calibri"/>
                <a:sym typeface="Calibri"/>
              </a:rPr>
              <a:t>ZANARDELLI ALESSIO</a:t>
            </a:r>
            <a:endParaRPr/>
          </a:p>
        </p:txBody>
      </p:sp>
      <p:sp>
        <p:nvSpPr>
          <p:cNvPr id="181" name="Google Shape;181;p9"/>
          <p:cNvSpPr txBox="1"/>
          <p:nvPr/>
        </p:nvSpPr>
        <p:spPr>
          <a:xfrm>
            <a:off x="95250" y="69097"/>
            <a:ext cx="9934575" cy="707886"/>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it-IT" sz="4000">
                <a:solidFill>
                  <a:srgbClr val="FF0000"/>
                </a:solidFill>
                <a:latin typeface="Calibri"/>
                <a:ea typeface="Calibri"/>
                <a:cs typeface="Calibri"/>
                <a:sym typeface="Calibri"/>
              </a:rPr>
              <a:t>CLASSIFICAZIONE SISTEMI CRITTOGRAFICI</a:t>
            </a:r>
            <a:endParaRPr/>
          </a:p>
        </p:txBody>
      </p:sp>
      <p:sp>
        <p:nvSpPr>
          <p:cNvPr id="182" name="Google Shape;182;p9"/>
          <p:cNvSpPr txBox="1"/>
          <p:nvPr/>
        </p:nvSpPr>
        <p:spPr>
          <a:xfrm>
            <a:off x="2884" y="909204"/>
            <a:ext cx="12189116"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Tipo di operazione</a:t>
            </a:r>
            <a:endParaRPr/>
          </a:p>
          <a:p>
            <a:pPr indent="-342900" lvl="1" marL="800100" marR="0" rtl="0" algn="l">
              <a:spcBef>
                <a:spcPts val="0"/>
              </a:spcBef>
              <a:spcAft>
                <a:spcPts val="0"/>
              </a:spcAft>
              <a:buClr>
                <a:schemeClr val="dk1"/>
              </a:buClr>
              <a:buSzPts val="2400"/>
              <a:buFont typeface="Arial"/>
              <a:buChar char="•"/>
            </a:pPr>
            <a:r>
              <a:rPr b="0" i="0" lang="it-IT" sz="2400" u="none" cap="none" strike="noStrike">
                <a:solidFill>
                  <a:schemeClr val="dk1"/>
                </a:solidFill>
                <a:latin typeface="Calibri"/>
                <a:ea typeface="Calibri"/>
                <a:cs typeface="Calibri"/>
                <a:sym typeface="Calibri"/>
              </a:rPr>
              <a:t>Sostituzione: ogni simbolo è trasformato in un altro simbolo</a:t>
            </a:r>
            <a:endParaRPr/>
          </a:p>
          <a:p>
            <a:pPr indent="-342900" lvl="1" marL="800100" marR="0" rtl="0" algn="l">
              <a:spcBef>
                <a:spcPts val="0"/>
              </a:spcBef>
              <a:spcAft>
                <a:spcPts val="0"/>
              </a:spcAft>
              <a:buClr>
                <a:schemeClr val="dk1"/>
              </a:buClr>
              <a:buSzPts val="2400"/>
              <a:buFont typeface="Arial"/>
              <a:buChar char="•"/>
            </a:pPr>
            <a:r>
              <a:rPr b="0" i="0" lang="it-IT" sz="2400" u="none" cap="none" strike="noStrike">
                <a:solidFill>
                  <a:schemeClr val="dk1"/>
                </a:solidFill>
                <a:latin typeface="Calibri"/>
                <a:ea typeface="Calibri"/>
                <a:cs typeface="Calibri"/>
                <a:sym typeface="Calibri"/>
              </a:rPr>
              <a:t>Trasposizione: permutazione dei caratteri del testo</a:t>
            </a:r>
            <a:endParaRPr b="0" i="0" sz="2400" u="none" cap="none" strike="noStrike">
              <a:solidFill>
                <a:schemeClr val="dk1"/>
              </a:solidFill>
              <a:latin typeface="Calibri"/>
              <a:ea typeface="Calibri"/>
              <a:cs typeface="Calibri"/>
              <a:sym typeface="Calibri"/>
            </a:endParaRPr>
          </a:p>
          <a:p>
            <a:pPr indent="-190500" lvl="1" marL="800100" marR="0" rtl="0" algn="l">
              <a:spcBef>
                <a:spcPts val="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Elaborazione del testo</a:t>
            </a:r>
            <a:endParaRPr/>
          </a:p>
          <a:p>
            <a:pPr indent="-342900" lvl="1" marL="800100" marR="0" rtl="0" algn="l">
              <a:spcBef>
                <a:spcPts val="0"/>
              </a:spcBef>
              <a:spcAft>
                <a:spcPts val="0"/>
              </a:spcAft>
              <a:buClr>
                <a:schemeClr val="dk1"/>
              </a:buClr>
              <a:buSzPts val="2400"/>
              <a:buFont typeface="Arial"/>
              <a:buChar char="•"/>
            </a:pPr>
            <a:r>
              <a:rPr b="0" i="0" lang="it-IT" sz="2400" u="none" cap="none" strike="noStrike">
                <a:solidFill>
                  <a:schemeClr val="dk1"/>
                </a:solidFill>
                <a:latin typeface="Calibri"/>
                <a:ea typeface="Calibri"/>
                <a:cs typeface="Calibri"/>
                <a:sym typeface="Calibri"/>
              </a:rPr>
              <a:t>A blocchi: lunghezza fissa</a:t>
            </a:r>
            <a:endParaRPr/>
          </a:p>
          <a:p>
            <a:pPr indent="-342900" lvl="1" marL="800100" marR="0" rtl="0" algn="l">
              <a:spcBef>
                <a:spcPts val="0"/>
              </a:spcBef>
              <a:spcAft>
                <a:spcPts val="0"/>
              </a:spcAft>
              <a:buClr>
                <a:schemeClr val="dk1"/>
              </a:buClr>
              <a:buSzPts val="2400"/>
              <a:buFont typeface="Arial"/>
              <a:buChar char="•"/>
            </a:pPr>
            <a:r>
              <a:rPr b="0" i="0" lang="it-IT" sz="2400" u="none" cap="none" strike="noStrike">
                <a:solidFill>
                  <a:schemeClr val="dk1"/>
                </a:solidFill>
                <a:latin typeface="Calibri"/>
                <a:ea typeface="Calibri"/>
                <a:cs typeface="Calibri"/>
                <a:sym typeface="Calibri"/>
              </a:rPr>
              <a:t>A flusso: lunghezza variabile</a:t>
            </a:r>
            <a:endParaRPr/>
          </a:p>
          <a:p>
            <a:pPr indent="-190500" lvl="1" marL="800100" marR="0" rtl="0" algn="l">
              <a:spcBef>
                <a:spcPts val="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Tecnica di cifratura</a:t>
            </a:r>
            <a:endParaRPr/>
          </a:p>
          <a:p>
            <a:pPr indent="-342900" lvl="1" marL="800100" marR="0" rtl="0" algn="l">
              <a:spcBef>
                <a:spcPts val="0"/>
              </a:spcBef>
              <a:spcAft>
                <a:spcPts val="0"/>
              </a:spcAft>
              <a:buClr>
                <a:schemeClr val="dk1"/>
              </a:buClr>
              <a:buSzPts val="2400"/>
              <a:buFont typeface="Arial"/>
              <a:buChar char="•"/>
            </a:pPr>
            <a:r>
              <a:rPr b="0" i="0" lang="it-IT" sz="2400" u="none" cap="none" strike="noStrike">
                <a:solidFill>
                  <a:schemeClr val="dk1"/>
                </a:solidFill>
                <a:latin typeface="Calibri"/>
                <a:ea typeface="Calibri"/>
                <a:cs typeface="Calibri"/>
                <a:sym typeface="Calibri"/>
              </a:rPr>
              <a:t>Chiave simmetrica: chiave per cifrare il messaggio è </a:t>
            </a:r>
            <a:r>
              <a:rPr b="0" i="0" lang="it-IT" sz="2400" u="sng" cap="none" strike="noStrike">
                <a:solidFill>
                  <a:schemeClr val="dk1"/>
                </a:solidFill>
                <a:latin typeface="Calibri"/>
                <a:ea typeface="Calibri"/>
                <a:cs typeface="Calibri"/>
                <a:sym typeface="Calibri"/>
              </a:rPr>
              <a:t>uguale</a:t>
            </a:r>
            <a:r>
              <a:rPr b="0" i="0" lang="it-IT" sz="2400" u="none" cap="none" strike="noStrike">
                <a:solidFill>
                  <a:schemeClr val="dk1"/>
                </a:solidFill>
                <a:latin typeface="Calibri"/>
                <a:ea typeface="Calibri"/>
                <a:cs typeface="Calibri"/>
                <a:sym typeface="Calibri"/>
              </a:rPr>
              <a:t> alla chiave per decifrare.</a:t>
            </a:r>
            <a:endParaRPr/>
          </a:p>
          <a:p>
            <a:pPr indent="-342900" lvl="1" marL="800100" marR="0" rtl="0" algn="l">
              <a:spcBef>
                <a:spcPts val="0"/>
              </a:spcBef>
              <a:spcAft>
                <a:spcPts val="0"/>
              </a:spcAft>
              <a:buClr>
                <a:schemeClr val="dk1"/>
              </a:buClr>
              <a:buSzPts val="2400"/>
              <a:buFont typeface="Arial"/>
              <a:buChar char="•"/>
            </a:pPr>
            <a:r>
              <a:rPr b="0" i="0" lang="it-IT" sz="2400" u="none" cap="none" strike="noStrike">
                <a:solidFill>
                  <a:schemeClr val="dk1"/>
                </a:solidFill>
                <a:latin typeface="Calibri"/>
                <a:ea typeface="Calibri"/>
                <a:cs typeface="Calibri"/>
                <a:sym typeface="Calibri"/>
              </a:rPr>
              <a:t>Chiave asimmetrica: chiave per cifrare il messaggio è </a:t>
            </a:r>
            <a:r>
              <a:rPr b="0" i="0" lang="it-IT" sz="2400" u="sng" cap="none" strike="noStrike">
                <a:solidFill>
                  <a:schemeClr val="dk1"/>
                </a:solidFill>
                <a:latin typeface="Calibri"/>
                <a:ea typeface="Calibri"/>
                <a:cs typeface="Calibri"/>
                <a:sym typeface="Calibri"/>
              </a:rPr>
              <a:t>diversa</a:t>
            </a:r>
            <a:r>
              <a:rPr b="0" i="0" lang="it-IT" sz="2400" u="none" cap="none" strike="noStrike">
                <a:solidFill>
                  <a:schemeClr val="dk1"/>
                </a:solidFill>
                <a:latin typeface="Calibri"/>
                <a:ea typeface="Calibri"/>
                <a:cs typeface="Calibri"/>
                <a:sym typeface="Calibri"/>
              </a:rPr>
              <a:t> alla chiave per decifrare.</a:t>
            </a:r>
            <a:endParaRPr/>
          </a:p>
        </p:txBody>
      </p:sp>
      <p:pic>
        <p:nvPicPr>
          <p:cNvPr descr="Immagine che contiene Elementi grafici, cerchio, Policromia&#10;&#10;Il contenuto generato dall&amp;#39;IA potrebbe non essere corretto." id="183" name="Google Shape;183;p9"/>
          <p:cNvPicPr preferRelativeResize="0"/>
          <p:nvPr/>
        </p:nvPicPr>
        <p:blipFill rotWithShape="1">
          <a:blip r:embed="rId3">
            <a:alphaModFix/>
          </a:blip>
          <a:srcRect b="0" l="0" r="0" t="0"/>
          <a:stretch/>
        </p:blipFill>
        <p:spPr>
          <a:xfrm>
            <a:off x="11312237" y="58367"/>
            <a:ext cx="741219" cy="73532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0"/>
          <p:cNvSpPr/>
          <p:nvPr/>
        </p:nvSpPr>
        <p:spPr>
          <a:xfrm>
            <a:off x="0" y="863485"/>
            <a:ext cx="12192000" cy="45719"/>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0" name="Google Shape;190;p10"/>
          <p:cNvSpPr/>
          <p:nvPr/>
        </p:nvSpPr>
        <p:spPr>
          <a:xfrm>
            <a:off x="0" y="6408421"/>
            <a:ext cx="12192000" cy="449580"/>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2000">
                <a:solidFill>
                  <a:schemeClr val="dk1"/>
                </a:solidFill>
                <a:latin typeface="Calibri"/>
                <a:ea typeface="Calibri"/>
                <a:cs typeface="Calibri"/>
                <a:sym typeface="Calibri"/>
              </a:rPr>
              <a:t>ZANARDELLI ALESSIO</a:t>
            </a:r>
            <a:endParaRPr/>
          </a:p>
        </p:txBody>
      </p:sp>
      <p:sp>
        <p:nvSpPr>
          <p:cNvPr id="191" name="Google Shape;191;p10"/>
          <p:cNvSpPr txBox="1"/>
          <p:nvPr/>
        </p:nvSpPr>
        <p:spPr>
          <a:xfrm>
            <a:off x="95250" y="69097"/>
            <a:ext cx="9934575" cy="707886"/>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it-IT" sz="4000">
                <a:solidFill>
                  <a:srgbClr val="FF0000"/>
                </a:solidFill>
                <a:latin typeface="Calibri"/>
                <a:ea typeface="Calibri"/>
                <a:cs typeface="Calibri"/>
                <a:sym typeface="Calibri"/>
              </a:rPr>
              <a:t>CHIAVE SIMMETRICA vs CHIAVE ASIMMETRICA</a:t>
            </a:r>
            <a:endParaRPr/>
          </a:p>
        </p:txBody>
      </p:sp>
      <p:sp>
        <p:nvSpPr>
          <p:cNvPr id="192" name="Google Shape;192;p10"/>
          <p:cNvSpPr txBox="1"/>
          <p:nvPr/>
        </p:nvSpPr>
        <p:spPr>
          <a:xfrm>
            <a:off x="2884" y="909204"/>
            <a:ext cx="5833140" cy="495520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ctr">
              <a:spcBef>
                <a:spcPts val="0"/>
              </a:spcBef>
              <a:spcAft>
                <a:spcPts val="0"/>
              </a:spcAft>
              <a:buNone/>
            </a:pPr>
            <a:r>
              <a:rPr lang="it-IT" sz="2400">
                <a:solidFill>
                  <a:srgbClr val="FF0000"/>
                </a:solidFill>
                <a:latin typeface="Calibri"/>
                <a:ea typeface="Calibri"/>
                <a:cs typeface="Calibri"/>
                <a:sym typeface="Calibri"/>
              </a:rPr>
              <a:t>SIMMETRICA</a:t>
            </a:r>
            <a:endParaRPr/>
          </a:p>
          <a:p>
            <a:pPr indent="0" lvl="0" marL="0" marR="0" rtl="0" algn="ctr">
              <a:spcBef>
                <a:spcPts val="0"/>
              </a:spcBef>
              <a:spcAft>
                <a:spcPts val="0"/>
              </a:spcAft>
              <a:buNone/>
            </a:pPr>
            <a:r>
              <a:t/>
            </a:r>
            <a:endParaRPr sz="2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La chiave per cifrare è identica alla chiave per decifrare.</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Mittente e destinatario devono essere a conoscenza della stessa chiave.</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Algoritmo performante e semplice da implementare.</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Viene utilizzato per la cifratura di massa.</a:t>
            </a:r>
            <a:endParaRPr/>
          </a:p>
        </p:txBody>
      </p:sp>
      <p:sp>
        <p:nvSpPr>
          <p:cNvPr id="193" name="Google Shape;193;p10"/>
          <p:cNvSpPr txBox="1"/>
          <p:nvPr/>
        </p:nvSpPr>
        <p:spPr>
          <a:xfrm>
            <a:off x="6355974" y="909204"/>
            <a:ext cx="5833141" cy="495520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ctr">
              <a:spcBef>
                <a:spcPts val="0"/>
              </a:spcBef>
              <a:spcAft>
                <a:spcPts val="0"/>
              </a:spcAft>
              <a:buNone/>
            </a:pPr>
            <a:r>
              <a:rPr lang="it-IT" sz="2400">
                <a:solidFill>
                  <a:srgbClr val="FF0000"/>
                </a:solidFill>
                <a:latin typeface="Calibri"/>
                <a:ea typeface="Calibri"/>
                <a:cs typeface="Calibri"/>
                <a:sym typeface="Calibri"/>
              </a:rPr>
              <a:t>ASIMMETRICA</a:t>
            </a:r>
            <a:endParaRPr/>
          </a:p>
          <a:p>
            <a:pPr indent="0" lvl="0" marL="0" marR="0" rtl="0" algn="ctr">
              <a:spcBef>
                <a:spcPts val="0"/>
              </a:spcBef>
              <a:spcAft>
                <a:spcPts val="0"/>
              </a:spcAft>
              <a:buNone/>
            </a:pPr>
            <a:r>
              <a:t/>
            </a:r>
            <a:endParaRPr sz="2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Vengono utilizzate due chiavi diverse: privata e pubblica.</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Mittente e destinatario non devono conoscere la stessa chiave.</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Algoritmo non performante e non semplice da implementare.</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it-IT" sz="2400">
                <a:solidFill>
                  <a:schemeClr val="dk1"/>
                </a:solidFill>
                <a:latin typeface="Calibri"/>
                <a:ea typeface="Calibri"/>
                <a:cs typeface="Calibri"/>
                <a:sym typeface="Calibri"/>
              </a:rPr>
              <a:t>Viene utilizzato per lo scambio di chiavi.</a:t>
            </a:r>
            <a:endParaRPr/>
          </a:p>
        </p:txBody>
      </p:sp>
      <p:cxnSp>
        <p:nvCxnSpPr>
          <p:cNvPr id="194" name="Google Shape;194;p10"/>
          <p:cNvCxnSpPr>
            <a:stCxn id="189" idx="2"/>
            <a:endCxn id="190" idx="0"/>
          </p:cNvCxnSpPr>
          <p:nvPr/>
        </p:nvCxnSpPr>
        <p:spPr>
          <a:xfrm>
            <a:off x="6096000" y="909204"/>
            <a:ext cx="0" cy="5499300"/>
          </a:xfrm>
          <a:prstGeom prst="straightConnector1">
            <a:avLst/>
          </a:prstGeom>
          <a:noFill/>
          <a:ln cap="flat" cmpd="sng" w="38100">
            <a:solidFill>
              <a:schemeClr val="accent1"/>
            </a:solidFill>
            <a:prstDash val="solid"/>
            <a:miter lim="800000"/>
            <a:headEnd len="sm" w="sm" type="none"/>
            <a:tailEnd len="sm" w="sm" type="none"/>
          </a:ln>
        </p:spPr>
      </p:cxnSp>
      <p:pic>
        <p:nvPicPr>
          <p:cNvPr descr="Immagine che contiene Elementi grafici, cerchio, Policromia&#10;&#10;Il contenuto generato dall&amp;#39;IA potrebbe non essere corretto." id="195" name="Google Shape;195;p10"/>
          <p:cNvPicPr preferRelativeResize="0"/>
          <p:nvPr/>
        </p:nvPicPr>
        <p:blipFill rotWithShape="1">
          <a:blip r:embed="rId3">
            <a:alphaModFix/>
          </a:blip>
          <a:srcRect b="0" l="0" r="0" t="0"/>
          <a:stretch/>
        </p:blipFill>
        <p:spPr>
          <a:xfrm>
            <a:off x="11312237" y="58367"/>
            <a:ext cx="741219" cy="73532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1"/>
          <p:cNvSpPr/>
          <p:nvPr/>
        </p:nvSpPr>
        <p:spPr>
          <a:xfrm>
            <a:off x="0" y="863485"/>
            <a:ext cx="12192000" cy="45719"/>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1" name="Google Shape;201;p11"/>
          <p:cNvSpPr/>
          <p:nvPr/>
        </p:nvSpPr>
        <p:spPr>
          <a:xfrm>
            <a:off x="0" y="6408421"/>
            <a:ext cx="12192000" cy="449580"/>
          </a:xfrm>
          <a:prstGeom prst="rect">
            <a:avLst/>
          </a:prstGeom>
          <a:solidFill>
            <a:schemeClr val="accent4"/>
          </a:solidFill>
          <a:ln cap="flat" cmpd="sng" w="12700">
            <a:solidFill>
              <a:srgbClr val="6B51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2000">
                <a:solidFill>
                  <a:schemeClr val="dk1"/>
                </a:solidFill>
                <a:latin typeface="Calibri"/>
                <a:ea typeface="Calibri"/>
                <a:cs typeface="Calibri"/>
                <a:sym typeface="Calibri"/>
              </a:rPr>
              <a:t>ZANARDELLI ALESSIO</a:t>
            </a:r>
            <a:endParaRPr/>
          </a:p>
        </p:txBody>
      </p:sp>
      <p:sp>
        <p:nvSpPr>
          <p:cNvPr id="202" name="Google Shape;202;p11"/>
          <p:cNvSpPr txBox="1"/>
          <p:nvPr/>
        </p:nvSpPr>
        <p:spPr>
          <a:xfrm>
            <a:off x="5222202" y="2875002"/>
            <a:ext cx="1747594" cy="110799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it-IT" sz="6600">
                <a:solidFill>
                  <a:schemeClr val="dk1"/>
                </a:solidFill>
                <a:latin typeface="Calibri"/>
                <a:ea typeface="Calibri"/>
                <a:cs typeface="Calibri"/>
                <a:sym typeface="Calibri"/>
              </a:rPr>
              <a:t>FINE</a:t>
            </a:r>
            <a:endParaRPr/>
          </a:p>
        </p:txBody>
      </p:sp>
      <p:pic>
        <p:nvPicPr>
          <p:cNvPr descr="Immagine che contiene Elementi grafici, cerchio, Policromia&#10;&#10;Il contenuto generato dall&amp;#39;IA potrebbe non essere corretto." id="203" name="Google Shape;203;p11"/>
          <p:cNvPicPr preferRelativeResize="0"/>
          <p:nvPr/>
        </p:nvPicPr>
        <p:blipFill rotWithShape="1">
          <a:blip r:embed="rId3">
            <a:alphaModFix/>
          </a:blip>
          <a:srcRect b="0" l="0" r="0" t="0"/>
          <a:stretch/>
        </p:blipFill>
        <p:spPr>
          <a:xfrm>
            <a:off x="5728855" y="65294"/>
            <a:ext cx="741219" cy="73532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2023-09-24T16:34:50Z</dcterms:created>
  <dc:creator>alessio zanardelli</dc:creator>
</cp:coreProperties>
</file>