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QJpFPsEF7qWxd+zHof0t41J5A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686E5A-005E-4987-AF4B-64ABFCB32E04}">
  <a:tblStyle styleId="{BF686E5A-005E-4987-AF4B-64ABFCB32E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3465923" y="2875002"/>
            <a:ext cx="5260158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CRITTOGRAFIA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8855" y="65294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CHIAVE SIMMETRICA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884" y="909204"/>
            <a:ext cx="12189116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Encryption Standard, è un algoritmo di cifratura nato nel 1976 per il governo USA.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Oggi è considerato insicuro, ma è stato 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oggetto di un'intensa analisi di tipo accademico che ha contribuito allo sviluppo dei moderni algoritmi di cifratura... e di crittoanalisi.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Viene decrittato per la prima volta nel 1997.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CHIAVE SIMMETRICA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2884" y="909204"/>
            <a:ext cx="12189116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Questo algoritmo di crittografia garantisce due caratteristiche: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Confusione: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rende confusa la relazione tra testo in chiaro e quello cifrato, tipicamente tramite sostituzione di caratteri.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Diffusione: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altera la struttura del testo in chiaro, in pratica significa permutare i caratteri del testo in chiaro.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Esempio banale: cifrario di cesare + cifrario a matrice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Nel DES, confusione e diffusione sono soddisfatte attraverso una serie di (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 permutazionie sostituzioni del testo.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INPUT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2884" y="909204"/>
            <a:ext cx="12189116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input abbiamo: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Il testo in chiaro suddiviso in blocchi fissi da </a:t>
            </a:r>
            <a:r>
              <a:rPr b="1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Chiave </a:t>
            </a:r>
            <a:r>
              <a:rPr b="1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 64 bit, di cui </a:t>
            </a:r>
            <a:r>
              <a:rPr b="1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effettivamente utilizzati e 8 di controllo.</a:t>
            </a:r>
            <a:endParaRPr/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4"/>
          <p:cNvGraphicFramePr/>
          <p:nvPr/>
        </p:nvGraphicFramePr>
        <p:xfrm>
          <a:off x="1298222" y="3151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{BF686E5A-005E-4987-AF4B-64ABFCB32E04}</a:tableStyleId>
              </a:tblPr>
              <a:tblGrid>
                <a:gridCol w="1676975"/>
                <a:gridCol w="1676975"/>
                <a:gridCol w="1676975"/>
                <a:gridCol w="1676975"/>
                <a:gridCol w="1676975"/>
                <a:gridCol w="1676975"/>
              </a:tblGrid>
              <a:tr h="41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10010...11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101111...01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10001...000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...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...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cap="none" strike="noStrike"/>
                        <a:t>...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2" name="Google Shape;122;p4"/>
          <p:cNvSpPr txBox="1"/>
          <p:nvPr/>
        </p:nvSpPr>
        <p:spPr>
          <a:xfrm>
            <a:off x="1646295" y="2688166"/>
            <a:ext cx="11815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 bit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995332" y="2688166"/>
            <a:ext cx="11815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 bit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3320813" y="2688166"/>
            <a:ext cx="11815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 bit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consiste in una permutazione iniziale del blocco considerato (il blocco 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graphicFrame>
        <p:nvGraphicFramePr>
          <p:cNvPr id="135" name="Google Shape;135;p5"/>
          <p:cNvGraphicFramePr/>
          <p:nvPr/>
        </p:nvGraphicFramePr>
        <p:xfrm>
          <a:off x="713457" y="2886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{BF686E5A-005E-4987-AF4B-64ABFCB32E04}</a:tableStyleId>
              </a:tblPr>
              <a:tblGrid>
                <a:gridCol w="633975"/>
                <a:gridCol w="633975"/>
                <a:gridCol w="633975"/>
                <a:gridCol w="63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6" name="Google Shape;136;p5"/>
          <p:cNvGraphicFramePr/>
          <p:nvPr/>
        </p:nvGraphicFramePr>
        <p:xfrm>
          <a:off x="4137753" y="2886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{BF686E5A-005E-4987-AF4B-64ABFCB32E04}</a:tableStyleId>
              </a:tblPr>
              <a:tblGrid>
                <a:gridCol w="633975"/>
                <a:gridCol w="633975"/>
                <a:gridCol w="633975"/>
                <a:gridCol w="63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13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7" name="Google Shape;137;p5"/>
          <p:cNvGraphicFramePr/>
          <p:nvPr/>
        </p:nvGraphicFramePr>
        <p:xfrm>
          <a:off x="7562049" y="2886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{BF686E5A-005E-4987-AF4B-64ABFCB32E04}</a:tableStyleId>
              </a:tblPr>
              <a:tblGrid>
                <a:gridCol w="633975"/>
                <a:gridCol w="633975"/>
                <a:gridCol w="633975"/>
                <a:gridCol w="63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8" name="Google Shape;138;p5"/>
          <p:cNvSpPr txBox="1"/>
          <p:nvPr/>
        </p:nvSpPr>
        <p:spPr>
          <a:xfrm>
            <a:off x="3563055" y="3438407"/>
            <a:ext cx="306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6977944" y="3428999"/>
            <a:ext cx="306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834907" y="4701351"/>
            <a:ext cx="2310460" cy="375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Ricordare: sono 64 bit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4259203" y="4701351"/>
            <a:ext cx="2310460" cy="375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Ricordare: sono 64 bit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7683499" y="4701351"/>
            <a:ext cx="2310460" cy="375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Ricordare: sono 64 bit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consiste in una suddivisione in due semiblocchi da 32 bit, S</a:t>
            </a:r>
            <a:r>
              <a:rPr baseline="-25000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D</a:t>
            </a:r>
            <a:r>
              <a:rPr baseline="-25000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cxnSp>
        <p:nvCxnSpPr>
          <p:cNvPr id="153" name="Google Shape;153;p6"/>
          <p:cNvCxnSpPr/>
          <p:nvPr/>
        </p:nvCxnSpPr>
        <p:spPr>
          <a:xfrm flipH="1">
            <a:off x="844667" y="3735563"/>
            <a:ext cx="948267" cy="63217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6"/>
          <p:cNvCxnSpPr/>
          <p:nvPr/>
        </p:nvCxnSpPr>
        <p:spPr>
          <a:xfrm>
            <a:off x="3759082" y="3735563"/>
            <a:ext cx="895585" cy="6509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5" name="Google Shape;155;p6"/>
          <p:cNvSpPr/>
          <p:nvPr/>
        </p:nvSpPr>
        <p:spPr>
          <a:xfrm>
            <a:off x="580907" y="5221111"/>
            <a:ext cx="338666" cy="9219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729573" y="5221111"/>
            <a:ext cx="338666" cy="9219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11727" y="4485409"/>
            <a:ext cx="779318" cy="545522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571999" y="4485409"/>
            <a:ext cx="779318" cy="545522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p6"/>
          <p:cNvGraphicFramePr/>
          <p:nvPr/>
        </p:nvGraphicFramePr>
        <p:xfrm>
          <a:off x="1513086" y="20017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{BF686E5A-005E-4987-AF4B-64ABFCB32E04}</a:tableStyleId>
              </a:tblPr>
              <a:tblGrid>
                <a:gridCol w="633975"/>
                <a:gridCol w="633975"/>
                <a:gridCol w="633975"/>
                <a:gridCol w="63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60" name="Google Shape;160;p6"/>
          <p:cNvCxnSpPr/>
          <p:nvPr/>
        </p:nvCxnSpPr>
        <p:spPr>
          <a:xfrm>
            <a:off x="2769541" y="1767652"/>
            <a:ext cx="20696" cy="226906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descr="Immagine che contiene Elementi grafici, cerchio, Policromia&#10;&#10;Il contenuto generato dall&amp;#39;IA potrebbe non essere corretto.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consiste in una suddivisione in due semiblocchi da 32 bit, S</a:t>
            </a:r>
            <a:r>
              <a:rPr baseline="-25000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D</a:t>
            </a:r>
            <a:r>
              <a:rPr baseline="-25000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graphicFrame>
        <p:nvGraphicFramePr>
          <p:cNvPr id="171" name="Google Shape;171;p7"/>
          <p:cNvGraphicFramePr/>
          <p:nvPr/>
        </p:nvGraphicFramePr>
        <p:xfrm>
          <a:off x="1513086" y="2020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{BF686E5A-005E-4987-AF4B-64ABFCB32E04}</a:tableStyleId>
              </a:tblPr>
              <a:tblGrid>
                <a:gridCol w="633975"/>
                <a:gridCol w="633975"/>
                <a:gridCol w="633975"/>
                <a:gridCol w="63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2" name="Google Shape;172;p7"/>
          <p:cNvCxnSpPr/>
          <p:nvPr/>
        </p:nvCxnSpPr>
        <p:spPr>
          <a:xfrm>
            <a:off x="2769541" y="1767652"/>
            <a:ext cx="20696" cy="226906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7"/>
          <p:cNvCxnSpPr/>
          <p:nvPr/>
        </p:nvCxnSpPr>
        <p:spPr>
          <a:xfrm flipH="1">
            <a:off x="844667" y="3735563"/>
            <a:ext cx="948267" cy="63217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" name="Google Shape;174;p7"/>
          <p:cNvCxnSpPr/>
          <p:nvPr/>
        </p:nvCxnSpPr>
        <p:spPr>
          <a:xfrm>
            <a:off x="3759082" y="3735563"/>
            <a:ext cx="895585" cy="6509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5" name="Google Shape;175;p7"/>
          <p:cNvSpPr/>
          <p:nvPr/>
        </p:nvSpPr>
        <p:spPr>
          <a:xfrm>
            <a:off x="580907" y="5221111"/>
            <a:ext cx="338666" cy="9219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729573" y="5221111"/>
            <a:ext cx="338666" cy="9219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6239995" y="2019278"/>
            <a:ext cx="5331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consiste nella generazione di 16 chiavi K</a:t>
            </a:r>
            <a:r>
              <a:rPr baseline="-25000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 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 lunghezza 48 bit.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255925" y="3092684"/>
            <a:ext cx="4985925" cy="611481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SCHEDULAZIONE CHIAVE K DA 56 BIT</a:t>
            </a:r>
            <a:endParaRPr/>
          </a:p>
        </p:txBody>
      </p:sp>
      <p:cxnSp>
        <p:nvCxnSpPr>
          <p:cNvPr id="179" name="Google Shape;179;p7"/>
          <p:cNvCxnSpPr/>
          <p:nvPr/>
        </p:nvCxnSpPr>
        <p:spPr>
          <a:xfrm>
            <a:off x="6788266" y="3786631"/>
            <a:ext cx="2631" cy="235458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" name="Google Shape;180;p7"/>
          <p:cNvCxnSpPr/>
          <p:nvPr/>
        </p:nvCxnSpPr>
        <p:spPr>
          <a:xfrm>
            <a:off x="7974561" y="3786630"/>
            <a:ext cx="2631" cy="235458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1" name="Google Shape;181;p7"/>
          <p:cNvCxnSpPr/>
          <p:nvPr/>
        </p:nvCxnSpPr>
        <p:spPr>
          <a:xfrm>
            <a:off x="10554970" y="3786629"/>
            <a:ext cx="2631" cy="235458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2" name="Google Shape;182;p7"/>
          <p:cNvSpPr txBox="1"/>
          <p:nvPr/>
        </p:nvSpPr>
        <p:spPr>
          <a:xfrm>
            <a:off x="6916448" y="4643437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8232629" y="4643437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10657174" y="4643436"/>
            <a:ext cx="587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9319346" y="4472420"/>
            <a:ext cx="6130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11727" y="4485409"/>
            <a:ext cx="779318" cy="545522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571999" y="4485409"/>
            <a:ext cx="779318" cy="545522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SCHEDULAZIONE CHIAVE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2884" y="909204"/>
            <a:ext cx="1218911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schedulazione è eseguita tramite una matrice di permutazione (come la FASE 1).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Questa volta la matrice è 8x7 (chiave da 56 bit).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ottenere poi una chiave K da 48 bit si eliminano dei bit (in posizioni precise).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Questo, 16 volte (per 16 chiavi).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198" name="Google Shape;1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2884" y="909204"/>
            <a:ext cx="12189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consiste in una suddivisione in due semiblocchi da 32 bit, S</a:t>
            </a:r>
            <a:r>
              <a:rPr baseline="-25000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 D</a:t>
            </a:r>
            <a:r>
              <a:rPr baseline="-25000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graphicFrame>
        <p:nvGraphicFramePr>
          <p:cNvPr id="208" name="Google Shape;208;p9"/>
          <p:cNvGraphicFramePr/>
          <p:nvPr/>
        </p:nvGraphicFramePr>
        <p:xfrm>
          <a:off x="1513086" y="2020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{BF686E5A-005E-4987-AF4B-64ABFCB32E04}</a:tableStyleId>
              </a:tblPr>
              <a:tblGrid>
                <a:gridCol w="633975"/>
                <a:gridCol w="633975"/>
                <a:gridCol w="633975"/>
                <a:gridCol w="633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09" name="Google Shape;209;p9"/>
          <p:cNvCxnSpPr/>
          <p:nvPr/>
        </p:nvCxnSpPr>
        <p:spPr>
          <a:xfrm>
            <a:off x="2769541" y="1767652"/>
            <a:ext cx="20696" cy="226906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10" name="Google Shape;210;p9"/>
          <p:cNvCxnSpPr/>
          <p:nvPr/>
        </p:nvCxnSpPr>
        <p:spPr>
          <a:xfrm flipH="1">
            <a:off x="844667" y="3735563"/>
            <a:ext cx="948267" cy="63217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9"/>
          <p:cNvCxnSpPr/>
          <p:nvPr/>
        </p:nvCxnSpPr>
        <p:spPr>
          <a:xfrm>
            <a:off x="3759082" y="3735563"/>
            <a:ext cx="895585" cy="6509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2" name="Google Shape;212;p9"/>
          <p:cNvSpPr/>
          <p:nvPr/>
        </p:nvSpPr>
        <p:spPr>
          <a:xfrm>
            <a:off x="580907" y="5221111"/>
            <a:ext cx="338666" cy="9219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729573" y="5221111"/>
            <a:ext cx="338666" cy="9219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6239995" y="2019278"/>
            <a:ext cx="53311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consiste nella generazione di 16 chiavi K</a:t>
            </a:r>
            <a:r>
              <a:rPr baseline="-25000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 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 lunghezza 48 bit.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255925" y="3092684"/>
            <a:ext cx="4985925" cy="611481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SCHEDULAZIONE CHIAVE K DA 56 BIT</a:t>
            </a:r>
            <a:endParaRPr/>
          </a:p>
        </p:txBody>
      </p:sp>
      <p:cxnSp>
        <p:nvCxnSpPr>
          <p:cNvPr id="216" name="Google Shape;216;p9"/>
          <p:cNvCxnSpPr/>
          <p:nvPr/>
        </p:nvCxnSpPr>
        <p:spPr>
          <a:xfrm>
            <a:off x="6788266" y="3786631"/>
            <a:ext cx="2631" cy="235458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7" name="Google Shape;217;p9"/>
          <p:cNvCxnSpPr/>
          <p:nvPr/>
        </p:nvCxnSpPr>
        <p:spPr>
          <a:xfrm>
            <a:off x="7974561" y="3786630"/>
            <a:ext cx="2631" cy="235458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8" name="Google Shape;218;p9"/>
          <p:cNvCxnSpPr/>
          <p:nvPr/>
        </p:nvCxnSpPr>
        <p:spPr>
          <a:xfrm>
            <a:off x="10554970" y="3786629"/>
            <a:ext cx="2631" cy="235458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9" name="Google Shape;219;p9"/>
          <p:cNvSpPr txBox="1"/>
          <p:nvPr/>
        </p:nvSpPr>
        <p:spPr>
          <a:xfrm>
            <a:off x="6916448" y="4643437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8232629" y="4643437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10657174" y="4643436"/>
            <a:ext cx="587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9319346" y="4472420"/>
            <a:ext cx="6130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11727" y="4485409"/>
            <a:ext cx="779318" cy="545522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571999" y="4485409"/>
            <a:ext cx="779318" cy="545522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cxnSp>
        <p:nvCxnSpPr>
          <p:cNvPr id="234" name="Google Shape;234;p10"/>
          <p:cNvCxnSpPr/>
          <p:nvPr/>
        </p:nvCxnSpPr>
        <p:spPr>
          <a:xfrm flipH="1">
            <a:off x="1078461" y="1042586"/>
            <a:ext cx="601904" cy="4070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5" name="Google Shape;235;p10"/>
          <p:cNvCxnSpPr/>
          <p:nvPr/>
        </p:nvCxnSpPr>
        <p:spPr>
          <a:xfrm>
            <a:off x="4044832" y="1051245"/>
            <a:ext cx="514585" cy="39122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6" name="Google Shape;236;p10"/>
          <p:cNvSpPr/>
          <p:nvPr/>
        </p:nvSpPr>
        <p:spPr>
          <a:xfrm>
            <a:off x="580907" y="2017247"/>
            <a:ext cx="381961" cy="5149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426504" y="2034565"/>
            <a:ext cx="321348" cy="47165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0"/>
          <p:cNvCxnSpPr/>
          <p:nvPr/>
        </p:nvCxnSpPr>
        <p:spPr>
          <a:xfrm rot="10800000">
            <a:off x="5059079" y="3898515"/>
            <a:ext cx="1694550" cy="68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9" name="Google Shape;239;p10"/>
          <p:cNvCxnSpPr/>
          <p:nvPr/>
        </p:nvCxnSpPr>
        <p:spPr>
          <a:xfrm>
            <a:off x="7922606" y="1180244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0" name="Google Shape;240;p10"/>
          <p:cNvCxnSpPr/>
          <p:nvPr/>
        </p:nvCxnSpPr>
        <p:spPr>
          <a:xfrm>
            <a:off x="10503015" y="1180243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1" name="Google Shape;241;p10"/>
          <p:cNvSpPr txBox="1"/>
          <p:nvPr/>
        </p:nvSpPr>
        <p:spPr>
          <a:xfrm>
            <a:off x="6864493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8180674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10605219" y="2037050"/>
            <a:ext cx="587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9267391" y="1866034"/>
            <a:ext cx="6130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227301" y="2643186"/>
            <a:ext cx="5117522" cy="33077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0"/>
          <p:cNvCxnSpPr/>
          <p:nvPr/>
        </p:nvCxnSpPr>
        <p:spPr>
          <a:xfrm>
            <a:off x="6760152" y="1001857"/>
            <a:ext cx="5196" cy="288867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10"/>
          <p:cNvSpPr/>
          <p:nvPr/>
        </p:nvSpPr>
        <p:spPr>
          <a:xfrm>
            <a:off x="4362016" y="2708130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43356" y="2708129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2073851" y="2214563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 1</a:t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5507181" y="3292619"/>
            <a:ext cx="484909" cy="4675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45522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294908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2255691" y="1002290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254" name="Google Shape;2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cxnSp>
        <p:nvCxnSpPr>
          <p:cNvPr id="263" name="Google Shape;263;p11"/>
          <p:cNvCxnSpPr/>
          <p:nvPr/>
        </p:nvCxnSpPr>
        <p:spPr>
          <a:xfrm flipH="1">
            <a:off x="1078461" y="1042586"/>
            <a:ext cx="601904" cy="4070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4" name="Google Shape;264;p11"/>
          <p:cNvCxnSpPr/>
          <p:nvPr/>
        </p:nvCxnSpPr>
        <p:spPr>
          <a:xfrm>
            <a:off x="4044832" y="1051245"/>
            <a:ext cx="514585" cy="39122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5" name="Google Shape;265;p11"/>
          <p:cNvSpPr/>
          <p:nvPr/>
        </p:nvSpPr>
        <p:spPr>
          <a:xfrm>
            <a:off x="580907" y="2017247"/>
            <a:ext cx="381961" cy="5149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426504" y="2034565"/>
            <a:ext cx="321348" cy="47165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1"/>
          <p:cNvCxnSpPr/>
          <p:nvPr/>
        </p:nvCxnSpPr>
        <p:spPr>
          <a:xfrm rot="10800000">
            <a:off x="5059079" y="3898515"/>
            <a:ext cx="1694550" cy="68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8" name="Google Shape;268;p11"/>
          <p:cNvCxnSpPr/>
          <p:nvPr/>
        </p:nvCxnSpPr>
        <p:spPr>
          <a:xfrm>
            <a:off x="7922606" y="1180244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9" name="Google Shape;269;p11"/>
          <p:cNvCxnSpPr/>
          <p:nvPr/>
        </p:nvCxnSpPr>
        <p:spPr>
          <a:xfrm>
            <a:off x="10503015" y="1180243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0" name="Google Shape;270;p11"/>
          <p:cNvSpPr txBox="1"/>
          <p:nvPr/>
        </p:nvSpPr>
        <p:spPr>
          <a:xfrm>
            <a:off x="6864493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8180674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10605219" y="2037050"/>
            <a:ext cx="587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9267391" y="1866034"/>
            <a:ext cx="6130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227301" y="2643186"/>
            <a:ext cx="5117522" cy="33077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11"/>
          <p:cNvCxnSpPr/>
          <p:nvPr/>
        </p:nvCxnSpPr>
        <p:spPr>
          <a:xfrm>
            <a:off x="6760152" y="1001857"/>
            <a:ext cx="5196" cy="288867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11"/>
          <p:cNvSpPr/>
          <p:nvPr/>
        </p:nvSpPr>
        <p:spPr>
          <a:xfrm>
            <a:off x="4362016" y="2708130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43356" y="2708129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2073851" y="2214563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 1</a:t>
            </a:r>
            <a:endParaRPr/>
          </a:p>
        </p:txBody>
      </p:sp>
      <p:cxnSp>
        <p:nvCxnSpPr>
          <p:cNvPr id="279" name="Google Shape;279;p11"/>
          <p:cNvCxnSpPr/>
          <p:nvPr/>
        </p:nvCxnSpPr>
        <p:spPr>
          <a:xfrm flipH="1">
            <a:off x="1087121" y="3216017"/>
            <a:ext cx="3511892" cy="21230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0" name="Google Shape;280;p11"/>
          <p:cNvSpPr/>
          <p:nvPr/>
        </p:nvSpPr>
        <p:spPr>
          <a:xfrm>
            <a:off x="543356" y="5392447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1"/>
          <p:cNvCxnSpPr/>
          <p:nvPr/>
        </p:nvCxnSpPr>
        <p:spPr>
          <a:xfrm flipH="1">
            <a:off x="4637347" y="320735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2" name="Google Shape;282;p11"/>
          <p:cNvSpPr/>
          <p:nvPr/>
        </p:nvSpPr>
        <p:spPr>
          <a:xfrm>
            <a:off x="4245119" y="3708256"/>
            <a:ext cx="779318" cy="29440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5507181" y="3292619"/>
            <a:ext cx="484909" cy="4675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45522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294908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2255691" y="1002290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287" name="Google Shape;2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cxnSp>
        <p:nvCxnSpPr>
          <p:cNvPr id="296" name="Google Shape;296;p12"/>
          <p:cNvCxnSpPr/>
          <p:nvPr/>
        </p:nvCxnSpPr>
        <p:spPr>
          <a:xfrm flipH="1">
            <a:off x="1078461" y="1042586"/>
            <a:ext cx="601904" cy="4070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7" name="Google Shape;297;p12"/>
          <p:cNvCxnSpPr/>
          <p:nvPr/>
        </p:nvCxnSpPr>
        <p:spPr>
          <a:xfrm>
            <a:off x="4044832" y="1051245"/>
            <a:ext cx="514585" cy="39122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8" name="Google Shape;298;p12"/>
          <p:cNvSpPr/>
          <p:nvPr/>
        </p:nvSpPr>
        <p:spPr>
          <a:xfrm>
            <a:off x="580907" y="2017247"/>
            <a:ext cx="381961" cy="5149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426504" y="2034565"/>
            <a:ext cx="321348" cy="47165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2"/>
          <p:cNvCxnSpPr/>
          <p:nvPr/>
        </p:nvCxnSpPr>
        <p:spPr>
          <a:xfrm rot="10800000">
            <a:off x="5059079" y="3898515"/>
            <a:ext cx="1694550" cy="68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1" name="Google Shape;301;p12"/>
          <p:cNvCxnSpPr/>
          <p:nvPr/>
        </p:nvCxnSpPr>
        <p:spPr>
          <a:xfrm>
            <a:off x="7922606" y="1180244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2" name="Google Shape;302;p12"/>
          <p:cNvCxnSpPr/>
          <p:nvPr/>
        </p:nvCxnSpPr>
        <p:spPr>
          <a:xfrm>
            <a:off x="10503015" y="1180243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3" name="Google Shape;303;p12"/>
          <p:cNvSpPr txBox="1"/>
          <p:nvPr/>
        </p:nvSpPr>
        <p:spPr>
          <a:xfrm>
            <a:off x="6864493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8180674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10605219" y="2037050"/>
            <a:ext cx="587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9267391" y="1866034"/>
            <a:ext cx="6130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227301" y="2643186"/>
            <a:ext cx="5117522" cy="33077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2"/>
          <p:cNvCxnSpPr/>
          <p:nvPr/>
        </p:nvCxnSpPr>
        <p:spPr>
          <a:xfrm>
            <a:off x="6760152" y="1001857"/>
            <a:ext cx="5196" cy="288867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9" name="Google Shape;309;p12"/>
          <p:cNvSpPr/>
          <p:nvPr/>
        </p:nvSpPr>
        <p:spPr>
          <a:xfrm>
            <a:off x="4362016" y="2708130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543356" y="2708129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2073851" y="2214563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 1</a:t>
            </a:r>
            <a:endParaRPr/>
          </a:p>
        </p:txBody>
      </p:sp>
      <p:cxnSp>
        <p:nvCxnSpPr>
          <p:cNvPr id="312" name="Google Shape;312;p12"/>
          <p:cNvCxnSpPr/>
          <p:nvPr/>
        </p:nvCxnSpPr>
        <p:spPr>
          <a:xfrm flipH="1">
            <a:off x="1087121" y="3216017"/>
            <a:ext cx="3511892" cy="21230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3" name="Google Shape;313;p12"/>
          <p:cNvSpPr/>
          <p:nvPr/>
        </p:nvSpPr>
        <p:spPr>
          <a:xfrm>
            <a:off x="543356" y="5392447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2"/>
          <p:cNvCxnSpPr/>
          <p:nvPr/>
        </p:nvCxnSpPr>
        <p:spPr>
          <a:xfrm flipH="1">
            <a:off x="4637347" y="320735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5" name="Google Shape;315;p12"/>
          <p:cNvSpPr/>
          <p:nvPr/>
        </p:nvSpPr>
        <p:spPr>
          <a:xfrm>
            <a:off x="4245119" y="3708256"/>
            <a:ext cx="779318" cy="29440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5507181" y="3292619"/>
            <a:ext cx="484909" cy="4675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2"/>
          <p:cNvCxnSpPr/>
          <p:nvPr/>
        </p:nvCxnSpPr>
        <p:spPr>
          <a:xfrm flipH="1">
            <a:off x="4620029" y="406460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Xor, Logica, Disgiunzione Esclusiva" id="318" name="Google Shape;3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991" y="4534972"/>
            <a:ext cx="370609" cy="3511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12"/>
          <p:cNvCxnSpPr/>
          <p:nvPr/>
        </p:nvCxnSpPr>
        <p:spPr>
          <a:xfrm>
            <a:off x="866946" y="3241994"/>
            <a:ext cx="3406721" cy="136969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0" name="Google Shape;320;p12"/>
          <p:cNvCxnSpPr/>
          <p:nvPr/>
        </p:nvCxnSpPr>
        <p:spPr>
          <a:xfrm flipH="1">
            <a:off x="4620028" y="4947834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1" name="Google Shape;321;p12"/>
          <p:cNvSpPr/>
          <p:nvPr/>
        </p:nvSpPr>
        <p:spPr>
          <a:xfrm>
            <a:off x="4405311" y="5392448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2"/>
          <p:cNvCxnSpPr/>
          <p:nvPr/>
        </p:nvCxnSpPr>
        <p:spPr>
          <a:xfrm flipH="1">
            <a:off x="775391" y="585703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3" name="Google Shape;323;p12"/>
          <p:cNvCxnSpPr/>
          <p:nvPr/>
        </p:nvCxnSpPr>
        <p:spPr>
          <a:xfrm flipH="1">
            <a:off x="4637345" y="5857037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4" name="Google Shape;324;p12"/>
          <p:cNvSpPr txBox="1"/>
          <p:nvPr/>
        </p:nvSpPr>
        <p:spPr>
          <a:xfrm>
            <a:off x="4816619" y="4530868"/>
            <a:ext cx="630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45522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294908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2255691" y="1002290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328" name="Google Shape;32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336" name="Google Shape;336;p13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cxnSp>
        <p:nvCxnSpPr>
          <p:cNvPr id="337" name="Google Shape;337;p13"/>
          <p:cNvCxnSpPr/>
          <p:nvPr/>
        </p:nvCxnSpPr>
        <p:spPr>
          <a:xfrm flipH="1">
            <a:off x="1078461" y="1042586"/>
            <a:ext cx="601904" cy="4070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8" name="Google Shape;338;p13"/>
          <p:cNvCxnSpPr/>
          <p:nvPr/>
        </p:nvCxnSpPr>
        <p:spPr>
          <a:xfrm>
            <a:off x="4044832" y="1051245"/>
            <a:ext cx="514585" cy="39122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9" name="Google Shape;339;p13"/>
          <p:cNvSpPr/>
          <p:nvPr/>
        </p:nvSpPr>
        <p:spPr>
          <a:xfrm>
            <a:off x="580907" y="2017247"/>
            <a:ext cx="381961" cy="5149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426504" y="2034565"/>
            <a:ext cx="321348" cy="47165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3"/>
          <p:cNvCxnSpPr/>
          <p:nvPr/>
        </p:nvCxnSpPr>
        <p:spPr>
          <a:xfrm rot="10800000">
            <a:off x="5059079" y="3898515"/>
            <a:ext cx="1694550" cy="68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2" name="Google Shape;342;p13"/>
          <p:cNvCxnSpPr/>
          <p:nvPr/>
        </p:nvCxnSpPr>
        <p:spPr>
          <a:xfrm>
            <a:off x="7922606" y="1180244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3" name="Google Shape;343;p13"/>
          <p:cNvCxnSpPr/>
          <p:nvPr/>
        </p:nvCxnSpPr>
        <p:spPr>
          <a:xfrm>
            <a:off x="10503015" y="1180243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4" name="Google Shape;344;p13"/>
          <p:cNvSpPr txBox="1"/>
          <p:nvPr/>
        </p:nvSpPr>
        <p:spPr>
          <a:xfrm>
            <a:off x="6864493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8180674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 txBox="1"/>
          <p:nvPr/>
        </p:nvSpPr>
        <p:spPr>
          <a:xfrm>
            <a:off x="10605219" y="2037050"/>
            <a:ext cx="587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9267391" y="1866034"/>
            <a:ext cx="6130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227301" y="2643186"/>
            <a:ext cx="5117522" cy="33077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13"/>
          <p:cNvCxnSpPr/>
          <p:nvPr/>
        </p:nvCxnSpPr>
        <p:spPr>
          <a:xfrm>
            <a:off x="6760152" y="1001857"/>
            <a:ext cx="5196" cy="288867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0" name="Google Shape;350;p13"/>
          <p:cNvSpPr/>
          <p:nvPr/>
        </p:nvSpPr>
        <p:spPr>
          <a:xfrm>
            <a:off x="4362016" y="2708130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43356" y="2708129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2073851" y="2214563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 1</a:t>
            </a:r>
            <a:endParaRPr/>
          </a:p>
        </p:txBody>
      </p:sp>
      <p:cxnSp>
        <p:nvCxnSpPr>
          <p:cNvPr id="353" name="Google Shape;353;p13"/>
          <p:cNvCxnSpPr/>
          <p:nvPr/>
        </p:nvCxnSpPr>
        <p:spPr>
          <a:xfrm flipH="1">
            <a:off x="1087121" y="3216017"/>
            <a:ext cx="3511892" cy="21230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4" name="Google Shape;354;p13"/>
          <p:cNvSpPr/>
          <p:nvPr/>
        </p:nvSpPr>
        <p:spPr>
          <a:xfrm>
            <a:off x="543356" y="5392447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13"/>
          <p:cNvCxnSpPr/>
          <p:nvPr/>
        </p:nvCxnSpPr>
        <p:spPr>
          <a:xfrm flipH="1">
            <a:off x="4637347" y="320735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6" name="Google Shape;356;p13"/>
          <p:cNvSpPr/>
          <p:nvPr/>
        </p:nvSpPr>
        <p:spPr>
          <a:xfrm>
            <a:off x="4245119" y="3708256"/>
            <a:ext cx="779318" cy="29440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5507181" y="3292619"/>
            <a:ext cx="484909" cy="4675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3"/>
          <p:cNvCxnSpPr/>
          <p:nvPr/>
        </p:nvCxnSpPr>
        <p:spPr>
          <a:xfrm flipH="1">
            <a:off x="4620029" y="406460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Xor, Logica, Disgiunzione Esclusiva" id="359" name="Google Shape;3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991" y="4534972"/>
            <a:ext cx="370609" cy="3511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" name="Google Shape;360;p13"/>
          <p:cNvCxnSpPr/>
          <p:nvPr/>
        </p:nvCxnSpPr>
        <p:spPr>
          <a:xfrm>
            <a:off x="866946" y="3241994"/>
            <a:ext cx="3406721" cy="136969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1" name="Google Shape;361;p13"/>
          <p:cNvCxnSpPr/>
          <p:nvPr/>
        </p:nvCxnSpPr>
        <p:spPr>
          <a:xfrm flipH="1">
            <a:off x="4620028" y="4947834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2" name="Google Shape;362;p13"/>
          <p:cNvSpPr/>
          <p:nvPr/>
        </p:nvSpPr>
        <p:spPr>
          <a:xfrm>
            <a:off x="4405311" y="5392448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3"/>
          <p:cNvCxnSpPr/>
          <p:nvPr/>
        </p:nvCxnSpPr>
        <p:spPr>
          <a:xfrm flipH="1">
            <a:off x="775391" y="585703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4" name="Google Shape;364;p13"/>
          <p:cNvCxnSpPr/>
          <p:nvPr/>
        </p:nvCxnSpPr>
        <p:spPr>
          <a:xfrm flipH="1">
            <a:off x="4637345" y="5857037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5" name="Google Shape;365;p13"/>
          <p:cNvSpPr/>
          <p:nvPr/>
        </p:nvSpPr>
        <p:spPr>
          <a:xfrm>
            <a:off x="3784023" y="2413720"/>
            <a:ext cx="2485159" cy="212147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4816619" y="4530868"/>
            <a:ext cx="630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545522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4294908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 txBox="1"/>
          <p:nvPr/>
        </p:nvSpPr>
        <p:spPr>
          <a:xfrm>
            <a:off x="2255691" y="1002290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370" name="Google Shape;37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378" name="Google Shape;378;p14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FUNZIONE DI FEISTEL</a:t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175346" y="1708006"/>
            <a:ext cx="4675910" cy="333374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5342658" y="2409392"/>
            <a:ext cx="484909" cy="4675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010948" y="1028266"/>
            <a:ext cx="666749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i-1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4"/>
          <p:cNvCxnSpPr/>
          <p:nvPr/>
        </p:nvCxnSpPr>
        <p:spPr>
          <a:xfrm flipH="1">
            <a:off x="1346893" y="1440904"/>
            <a:ext cx="4961" cy="81551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3" name="Google Shape;383;p14"/>
          <p:cNvSpPr/>
          <p:nvPr/>
        </p:nvSpPr>
        <p:spPr>
          <a:xfrm>
            <a:off x="703550" y="2305483"/>
            <a:ext cx="1281545" cy="831272"/>
          </a:xfrm>
          <a:prstGeom prst="rect">
            <a:avLst/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Matrice di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espansione</a:t>
            </a:r>
            <a:endParaRPr/>
          </a:p>
        </p:txBody>
      </p:sp>
      <p:pic>
        <p:nvPicPr>
          <p:cNvPr descr="Xor, Logica, Disgiunzione Esclusiva" id="384" name="Google Shape;3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0900" y="2344222"/>
            <a:ext cx="673677" cy="6368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Google Shape;385;p14"/>
          <p:cNvCxnSpPr/>
          <p:nvPr/>
        </p:nvCxnSpPr>
        <p:spPr>
          <a:xfrm rot="10800000">
            <a:off x="4213052" y="2611440"/>
            <a:ext cx="1044053" cy="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6" name="Google Shape;386;p14"/>
          <p:cNvCxnSpPr/>
          <p:nvPr/>
        </p:nvCxnSpPr>
        <p:spPr>
          <a:xfrm flipH="1" rot="10800000">
            <a:off x="2165808" y="2628759"/>
            <a:ext cx="1068766" cy="709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7" name="Google Shape;387;p14"/>
          <p:cNvSpPr/>
          <p:nvPr/>
        </p:nvSpPr>
        <p:spPr>
          <a:xfrm>
            <a:off x="3206026" y="3431164"/>
            <a:ext cx="1039091" cy="484909"/>
          </a:xfrm>
          <a:prstGeom prst="rect">
            <a:avLst/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S-BOX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4"/>
          <p:cNvCxnSpPr/>
          <p:nvPr/>
        </p:nvCxnSpPr>
        <p:spPr>
          <a:xfrm flipH="1">
            <a:off x="3728142" y="3013117"/>
            <a:ext cx="4961" cy="3652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9" name="Google Shape;389;p14"/>
          <p:cNvCxnSpPr/>
          <p:nvPr/>
        </p:nvCxnSpPr>
        <p:spPr>
          <a:xfrm>
            <a:off x="3733102" y="4913199"/>
            <a:ext cx="3698" cy="7462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0" name="Google Shape;390;p14"/>
          <p:cNvSpPr/>
          <p:nvPr/>
        </p:nvSpPr>
        <p:spPr>
          <a:xfrm>
            <a:off x="3063152" y="5704174"/>
            <a:ext cx="1238249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i-1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,K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3301278" y="1855209"/>
            <a:ext cx="8468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XOR</a:t>
            </a:r>
            <a:endParaRPr/>
          </a:p>
        </p:txBody>
      </p:sp>
      <p:sp>
        <p:nvSpPr>
          <p:cNvPr id="392" name="Google Shape;392;p14"/>
          <p:cNvSpPr txBox="1"/>
          <p:nvPr/>
        </p:nvSpPr>
        <p:spPr>
          <a:xfrm>
            <a:off x="1459056" y="1818409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2169101" y="2216727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3779692" y="5212772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4"/>
          <p:cNvCxnSpPr/>
          <p:nvPr/>
        </p:nvCxnSpPr>
        <p:spPr>
          <a:xfrm flipH="1">
            <a:off x="3728141" y="3917403"/>
            <a:ext cx="4961" cy="3652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6" name="Google Shape;396;p14"/>
          <p:cNvSpPr/>
          <p:nvPr/>
        </p:nvSpPr>
        <p:spPr>
          <a:xfrm>
            <a:off x="2876982" y="4329545"/>
            <a:ext cx="1801091" cy="50222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PERMUTAZIONE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 txBox="1"/>
          <p:nvPr/>
        </p:nvSpPr>
        <p:spPr>
          <a:xfrm>
            <a:off x="3788351" y="3922567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>
            <a:off x="3840305" y="3013363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5213786" y="1978548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400" name="Google Shape;4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08" name="Google Shape;408;p15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FUNZIONE DI FEISTEL</a:t>
            </a:r>
            <a:endParaRPr/>
          </a:p>
        </p:txBody>
      </p:sp>
      <p:sp>
        <p:nvSpPr>
          <p:cNvPr id="409" name="Google Shape;409;p15"/>
          <p:cNvSpPr txBox="1"/>
          <p:nvPr/>
        </p:nvSpPr>
        <p:spPr>
          <a:xfrm>
            <a:off x="5950959" y="915698"/>
            <a:ext cx="6061363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Questa funzione assicura che la cifratura e la decifratura siano processi molto simili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L'unica differenza è che le 16 chiavi sono applicate nell'ordine inverso nella fase di decifratura.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resto dell'algoritmo rimane identico.  </a:t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175346" y="1708006"/>
            <a:ext cx="4675910" cy="333374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5342658" y="2409392"/>
            <a:ext cx="484909" cy="4675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1010948" y="1028266"/>
            <a:ext cx="666749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i-1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15"/>
          <p:cNvCxnSpPr/>
          <p:nvPr/>
        </p:nvCxnSpPr>
        <p:spPr>
          <a:xfrm flipH="1">
            <a:off x="1346893" y="1440904"/>
            <a:ext cx="4961" cy="81551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4" name="Google Shape;414;p15"/>
          <p:cNvSpPr/>
          <p:nvPr/>
        </p:nvSpPr>
        <p:spPr>
          <a:xfrm>
            <a:off x="703550" y="2305483"/>
            <a:ext cx="1281545" cy="831272"/>
          </a:xfrm>
          <a:prstGeom prst="rect">
            <a:avLst/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Matrice di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espansione</a:t>
            </a:r>
            <a:endParaRPr/>
          </a:p>
        </p:txBody>
      </p:sp>
      <p:pic>
        <p:nvPicPr>
          <p:cNvPr descr="Xor, Logica, Disgiunzione Esclusiva" id="415" name="Google Shape;4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0900" y="2344222"/>
            <a:ext cx="673677" cy="6368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15"/>
          <p:cNvCxnSpPr/>
          <p:nvPr/>
        </p:nvCxnSpPr>
        <p:spPr>
          <a:xfrm rot="10800000">
            <a:off x="4213052" y="2611440"/>
            <a:ext cx="1044053" cy="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7" name="Google Shape;417;p15"/>
          <p:cNvCxnSpPr/>
          <p:nvPr/>
        </p:nvCxnSpPr>
        <p:spPr>
          <a:xfrm flipH="1" rot="10800000">
            <a:off x="2165808" y="2628759"/>
            <a:ext cx="1068766" cy="709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8" name="Google Shape;418;p15"/>
          <p:cNvSpPr/>
          <p:nvPr/>
        </p:nvSpPr>
        <p:spPr>
          <a:xfrm>
            <a:off x="3206026" y="3431164"/>
            <a:ext cx="1039091" cy="484909"/>
          </a:xfrm>
          <a:prstGeom prst="rect">
            <a:avLst/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S-BOX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15"/>
          <p:cNvCxnSpPr/>
          <p:nvPr/>
        </p:nvCxnSpPr>
        <p:spPr>
          <a:xfrm>
            <a:off x="3733102" y="4913199"/>
            <a:ext cx="3698" cy="7462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0" name="Google Shape;420;p15"/>
          <p:cNvSpPr/>
          <p:nvPr/>
        </p:nvSpPr>
        <p:spPr>
          <a:xfrm>
            <a:off x="3063152" y="5704174"/>
            <a:ext cx="1238249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i-1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,K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3301278" y="1855209"/>
            <a:ext cx="8468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XOR</a:t>
            </a:r>
            <a:endParaRPr/>
          </a:p>
        </p:txBody>
      </p:sp>
      <p:sp>
        <p:nvSpPr>
          <p:cNvPr id="422" name="Google Shape;422;p15"/>
          <p:cNvSpPr txBox="1"/>
          <p:nvPr/>
        </p:nvSpPr>
        <p:spPr>
          <a:xfrm>
            <a:off x="1459056" y="1818409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2169101" y="2216727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3779692" y="5212772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15"/>
          <p:cNvCxnSpPr/>
          <p:nvPr/>
        </p:nvCxnSpPr>
        <p:spPr>
          <a:xfrm flipH="1">
            <a:off x="3728141" y="3917403"/>
            <a:ext cx="4961" cy="3652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6" name="Google Shape;426;p15"/>
          <p:cNvSpPr/>
          <p:nvPr/>
        </p:nvSpPr>
        <p:spPr>
          <a:xfrm>
            <a:off x="2876982" y="4329545"/>
            <a:ext cx="1801091" cy="50222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PERMUTAZIONE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3788351" y="3922567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3840305" y="3013363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15"/>
          <p:cNvCxnSpPr/>
          <p:nvPr/>
        </p:nvCxnSpPr>
        <p:spPr>
          <a:xfrm flipH="1">
            <a:off x="3728142" y="3013117"/>
            <a:ext cx="4961" cy="3652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0" name="Google Shape;430;p15"/>
          <p:cNvSpPr txBox="1"/>
          <p:nvPr/>
        </p:nvSpPr>
        <p:spPr>
          <a:xfrm>
            <a:off x="5213786" y="1978548"/>
            <a:ext cx="74294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 bit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431" name="Google Shape;4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39" name="Google Shape;439;p16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S-BOX</a:t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2164" y="907039"/>
            <a:ext cx="1201015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blocco di 48 bit viene suddiviso in 8 sottoblocchi da 6 bit in input ad 8 S-BOX diverse, ovvero, la Substitution Box (Scatola di sostituzione).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 Substitution Box sostituisce 6 bit in input con 4 bit in output (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COMPRESSIONE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Questa funzione è non lineare e costituisce il cuore della sicurezza DES.</a:t>
            </a:r>
            <a:endParaRPr/>
          </a:p>
        </p:txBody>
      </p:sp>
      <p:pic>
        <p:nvPicPr>
          <p:cNvPr descr="undefined" id="441" name="Google Shape;441;p16"/>
          <p:cNvPicPr preferRelativeResize="0"/>
          <p:nvPr/>
        </p:nvPicPr>
        <p:blipFill rotWithShape="1">
          <a:blip r:embed="rId3">
            <a:alphaModFix/>
          </a:blip>
          <a:srcRect b="30214" l="0" r="408" t="29679"/>
          <a:stretch/>
        </p:blipFill>
        <p:spPr>
          <a:xfrm>
            <a:off x="3157103" y="3625224"/>
            <a:ext cx="5698660" cy="234088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2" name="Google Shape;442;p16"/>
          <p:cNvSpPr/>
          <p:nvPr/>
        </p:nvSpPr>
        <p:spPr>
          <a:xfrm>
            <a:off x="6814703" y="3872779"/>
            <a:ext cx="484909" cy="4675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3890096" y="3751551"/>
            <a:ext cx="1281545" cy="8312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Matrice di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espansione</a:t>
            </a:r>
            <a:endParaRPr/>
          </a:p>
        </p:txBody>
      </p:sp>
      <p:cxnSp>
        <p:nvCxnSpPr>
          <p:cNvPr id="444" name="Google Shape;444;p16"/>
          <p:cNvCxnSpPr/>
          <p:nvPr/>
        </p:nvCxnSpPr>
        <p:spPr>
          <a:xfrm flipH="1">
            <a:off x="6005482" y="5908994"/>
            <a:ext cx="4961" cy="42585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Immagine che contiene Elementi grafici, cerchio, Policromia&#10;&#10;Il contenuto generato dall&amp;#39;IA potrebbe non essere corretto." id="445" name="Google Shape;4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53" name="Google Shape;453;p17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S-BOX</a:t>
            </a:r>
            <a:endParaRPr/>
          </a:p>
        </p:txBody>
      </p:sp>
      <p:pic>
        <p:nvPicPr>
          <p:cNvPr descr="Immagine che contiene testo, schermata, numero, Carattere&#10;&#10;Descrizione generata automaticamente" id="454" name="Google Shape;4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1536" y="2538977"/>
            <a:ext cx="8233063" cy="2238977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/>
        </p:nvSpPr>
        <p:spPr>
          <a:xfrm>
            <a:off x="5106698" y="1294533"/>
            <a:ext cx="15828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GB" sz="36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1101</a:t>
            </a:r>
            <a:r>
              <a:rPr b="1" lang="en-GB" sz="36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 rot="5400000">
            <a:off x="5751800" y="1500188"/>
            <a:ext cx="268433" cy="90054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p17"/>
          <p:cNvCxnSpPr/>
          <p:nvPr/>
        </p:nvCxnSpPr>
        <p:spPr>
          <a:xfrm>
            <a:off x="6105693" y="2133631"/>
            <a:ext cx="2601425" cy="711606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8" name="Google Shape;458;p17"/>
          <p:cNvCxnSpPr/>
          <p:nvPr/>
        </p:nvCxnSpPr>
        <p:spPr>
          <a:xfrm flipH="1" rot="10800000">
            <a:off x="3015096" y="1799358"/>
            <a:ext cx="2057398" cy="1856509"/>
          </a:xfrm>
          <a:prstGeom prst="straightConnector1">
            <a:avLst/>
          </a:prstGeom>
          <a:noFill/>
          <a:ln cap="flat" cmpd="sng" w="28575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9" name="Google Shape;459;p17"/>
          <p:cNvCxnSpPr/>
          <p:nvPr/>
        </p:nvCxnSpPr>
        <p:spPr>
          <a:xfrm flipH="1" rot="10800000">
            <a:off x="3110346" y="1808017"/>
            <a:ext cx="3399556" cy="1908464"/>
          </a:xfrm>
          <a:prstGeom prst="straightConnector1">
            <a:avLst/>
          </a:prstGeom>
          <a:noFill/>
          <a:ln cap="flat" cmpd="sng" w="28575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0" name="Google Shape;460;p17"/>
          <p:cNvCxnSpPr/>
          <p:nvPr/>
        </p:nvCxnSpPr>
        <p:spPr>
          <a:xfrm flipH="1">
            <a:off x="7945118" y="3865448"/>
            <a:ext cx="914165" cy="1335061"/>
          </a:xfrm>
          <a:prstGeom prst="straightConnector1">
            <a:avLst/>
          </a:prstGeom>
          <a:noFill/>
          <a:ln cap="flat" cmpd="sng" w="28575">
            <a:solidFill>
              <a:srgbClr val="E6ED1A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1" name="Google Shape;461;p17"/>
          <p:cNvSpPr txBox="1"/>
          <p:nvPr/>
        </p:nvSpPr>
        <p:spPr>
          <a:xfrm>
            <a:off x="7080970" y="5312351"/>
            <a:ext cx="11759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E6ED1A"/>
                </a:solidFill>
                <a:latin typeface="Calibri"/>
                <a:ea typeface="Calibri"/>
                <a:cs typeface="Calibri"/>
                <a:sym typeface="Calibri"/>
              </a:rPr>
              <a:t>1001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462" name="Google Shape;4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8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470" name="Google Shape;470;p18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cxnSp>
        <p:nvCxnSpPr>
          <p:cNvPr id="471" name="Google Shape;471;p18"/>
          <p:cNvCxnSpPr/>
          <p:nvPr/>
        </p:nvCxnSpPr>
        <p:spPr>
          <a:xfrm flipH="1">
            <a:off x="1078461" y="1042586"/>
            <a:ext cx="601904" cy="40704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2" name="Google Shape;472;p18"/>
          <p:cNvCxnSpPr/>
          <p:nvPr/>
        </p:nvCxnSpPr>
        <p:spPr>
          <a:xfrm>
            <a:off x="4044832" y="1051245"/>
            <a:ext cx="514585" cy="39122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3" name="Google Shape;473;p18"/>
          <p:cNvSpPr/>
          <p:nvPr/>
        </p:nvSpPr>
        <p:spPr>
          <a:xfrm>
            <a:off x="580907" y="2017247"/>
            <a:ext cx="381961" cy="51494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4426504" y="2034565"/>
            <a:ext cx="321348" cy="47165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18"/>
          <p:cNvCxnSpPr/>
          <p:nvPr/>
        </p:nvCxnSpPr>
        <p:spPr>
          <a:xfrm rot="10800000">
            <a:off x="5059079" y="3898515"/>
            <a:ext cx="1694550" cy="68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6" name="Google Shape;476;p18"/>
          <p:cNvCxnSpPr/>
          <p:nvPr/>
        </p:nvCxnSpPr>
        <p:spPr>
          <a:xfrm>
            <a:off x="7922606" y="1180244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7" name="Google Shape;477;p18"/>
          <p:cNvCxnSpPr/>
          <p:nvPr/>
        </p:nvCxnSpPr>
        <p:spPr>
          <a:xfrm>
            <a:off x="10503015" y="1180243"/>
            <a:ext cx="37267" cy="510817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8" name="Google Shape;478;p18"/>
          <p:cNvSpPr txBox="1"/>
          <p:nvPr/>
        </p:nvSpPr>
        <p:spPr>
          <a:xfrm>
            <a:off x="6864493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 txBox="1"/>
          <p:nvPr/>
        </p:nvSpPr>
        <p:spPr>
          <a:xfrm>
            <a:off x="8180674" y="2037051"/>
            <a:ext cx="4485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 txBox="1"/>
          <p:nvPr/>
        </p:nvSpPr>
        <p:spPr>
          <a:xfrm>
            <a:off x="10605219" y="2037050"/>
            <a:ext cx="587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 txBox="1"/>
          <p:nvPr/>
        </p:nvSpPr>
        <p:spPr>
          <a:xfrm>
            <a:off x="9267391" y="1866034"/>
            <a:ext cx="6130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227301" y="2643186"/>
            <a:ext cx="5117522" cy="33077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18"/>
          <p:cNvCxnSpPr/>
          <p:nvPr/>
        </p:nvCxnSpPr>
        <p:spPr>
          <a:xfrm>
            <a:off x="6760152" y="1001857"/>
            <a:ext cx="5196" cy="288867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18"/>
          <p:cNvSpPr/>
          <p:nvPr/>
        </p:nvSpPr>
        <p:spPr>
          <a:xfrm>
            <a:off x="4362016" y="2708130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543356" y="2708129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 txBox="1"/>
          <p:nvPr/>
        </p:nvSpPr>
        <p:spPr>
          <a:xfrm>
            <a:off x="2073851" y="2214563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 1</a:t>
            </a:r>
            <a:endParaRPr/>
          </a:p>
        </p:txBody>
      </p:sp>
      <p:cxnSp>
        <p:nvCxnSpPr>
          <p:cNvPr id="487" name="Google Shape;487;p18"/>
          <p:cNvCxnSpPr/>
          <p:nvPr/>
        </p:nvCxnSpPr>
        <p:spPr>
          <a:xfrm flipH="1">
            <a:off x="1087121" y="3216017"/>
            <a:ext cx="3511892" cy="21230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8" name="Google Shape;488;p18"/>
          <p:cNvSpPr/>
          <p:nvPr/>
        </p:nvSpPr>
        <p:spPr>
          <a:xfrm>
            <a:off x="543356" y="5392447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8"/>
          <p:cNvCxnSpPr/>
          <p:nvPr/>
        </p:nvCxnSpPr>
        <p:spPr>
          <a:xfrm flipH="1">
            <a:off x="4637347" y="320735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0" name="Google Shape;490;p18"/>
          <p:cNvSpPr/>
          <p:nvPr/>
        </p:nvSpPr>
        <p:spPr>
          <a:xfrm>
            <a:off x="4245119" y="3708256"/>
            <a:ext cx="779318" cy="29440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491" name="Google Shape;491;p18"/>
          <p:cNvSpPr/>
          <p:nvPr/>
        </p:nvSpPr>
        <p:spPr>
          <a:xfrm>
            <a:off x="5507181" y="3292619"/>
            <a:ext cx="484909" cy="4675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18"/>
          <p:cNvCxnSpPr/>
          <p:nvPr/>
        </p:nvCxnSpPr>
        <p:spPr>
          <a:xfrm flipH="1">
            <a:off x="4620029" y="406460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Xor, Logica, Disgiunzione Esclusiva" id="493" name="Google Shape;4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991" y="4534972"/>
            <a:ext cx="370609" cy="3511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4" name="Google Shape;494;p18"/>
          <p:cNvCxnSpPr/>
          <p:nvPr/>
        </p:nvCxnSpPr>
        <p:spPr>
          <a:xfrm>
            <a:off x="866946" y="3241994"/>
            <a:ext cx="3406721" cy="136969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5" name="Google Shape;495;p18"/>
          <p:cNvCxnSpPr/>
          <p:nvPr/>
        </p:nvCxnSpPr>
        <p:spPr>
          <a:xfrm flipH="1">
            <a:off x="4620028" y="4947834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6" name="Google Shape;496;p18"/>
          <p:cNvSpPr/>
          <p:nvPr/>
        </p:nvSpPr>
        <p:spPr>
          <a:xfrm>
            <a:off x="4405311" y="5392448"/>
            <a:ext cx="458931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7" name="Google Shape;497;p18"/>
          <p:cNvCxnSpPr/>
          <p:nvPr/>
        </p:nvCxnSpPr>
        <p:spPr>
          <a:xfrm flipH="1">
            <a:off x="775391" y="5857038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8" name="Google Shape;498;p18"/>
          <p:cNvCxnSpPr/>
          <p:nvPr/>
        </p:nvCxnSpPr>
        <p:spPr>
          <a:xfrm flipH="1">
            <a:off x="4637345" y="5857037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9" name="Google Shape;499;p18"/>
          <p:cNvSpPr txBox="1"/>
          <p:nvPr/>
        </p:nvSpPr>
        <p:spPr>
          <a:xfrm>
            <a:off x="4816619" y="4530868"/>
            <a:ext cx="630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545522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4294908" y="1506682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 txBox="1"/>
          <p:nvPr/>
        </p:nvSpPr>
        <p:spPr>
          <a:xfrm>
            <a:off x="2255691" y="1002290"/>
            <a:ext cx="14183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503" name="Google Shape;5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511" name="Google Shape;511;p19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 – PER OGNI BLOCCO</a:t>
            </a:r>
            <a:endParaRPr/>
          </a:p>
        </p:txBody>
      </p:sp>
      <p:cxnSp>
        <p:nvCxnSpPr>
          <p:cNvPr id="512" name="Google Shape;512;p19"/>
          <p:cNvCxnSpPr/>
          <p:nvPr/>
        </p:nvCxnSpPr>
        <p:spPr>
          <a:xfrm flipH="1">
            <a:off x="775391" y="1059902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3" name="Google Shape;513;p19"/>
          <p:cNvCxnSpPr/>
          <p:nvPr/>
        </p:nvCxnSpPr>
        <p:spPr>
          <a:xfrm flipH="1">
            <a:off x="4585391" y="1059900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4" name="Google Shape;514;p19"/>
          <p:cNvSpPr/>
          <p:nvPr/>
        </p:nvSpPr>
        <p:spPr>
          <a:xfrm>
            <a:off x="439447" y="1625742"/>
            <a:ext cx="588817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4249447" y="1625743"/>
            <a:ext cx="588817" cy="46759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19"/>
          <p:cNvCxnSpPr/>
          <p:nvPr/>
        </p:nvCxnSpPr>
        <p:spPr>
          <a:xfrm flipH="1">
            <a:off x="740754" y="2211561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7" name="Google Shape;517;p19"/>
          <p:cNvCxnSpPr/>
          <p:nvPr/>
        </p:nvCxnSpPr>
        <p:spPr>
          <a:xfrm flipH="1">
            <a:off x="4550754" y="2211559"/>
            <a:ext cx="4961" cy="4258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8" name="Google Shape;518;p19"/>
          <p:cNvSpPr/>
          <p:nvPr/>
        </p:nvSpPr>
        <p:spPr>
          <a:xfrm>
            <a:off x="435119" y="3429000"/>
            <a:ext cx="4398817" cy="50222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PERMUTAZIONE FINALE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p19"/>
          <p:cNvCxnSpPr/>
          <p:nvPr/>
        </p:nvCxnSpPr>
        <p:spPr>
          <a:xfrm flipH="1">
            <a:off x="2585144" y="5008449"/>
            <a:ext cx="4426" cy="34642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0" name="Google Shape;520;p19"/>
          <p:cNvCxnSpPr/>
          <p:nvPr/>
        </p:nvCxnSpPr>
        <p:spPr>
          <a:xfrm flipH="1">
            <a:off x="2585144" y="4090586"/>
            <a:ext cx="13619" cy="4431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1" name="Google Shape;521;p19"/>
          <p:cNvSpPr/>
          <p:nvPr/>
        </p:nvSpPr>
        <p:spPr>
          <a:xfrm>
            <a:off x="1491528" y="5394614"/>
            <a:ext cx="2095499" cy="50222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SCAMBIO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406977" y="2727614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4216976" y="2727614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2008908" y="4589318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2589067" y="4589318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5533158" y="5420590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4944340" y="5420590"/>
            <a:ext cx="588818" cy="415636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GB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19"/>
          <p:cNvCxnSpPr/>
          <p:nvPr/>
        </p:nvCxnSpPr>
        <p:spPr>
          <a:xfrm>
            <a:off x="3793717" y="5631903"/>
            <a:ext cx="956199" cy="1022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9" name="Google Shape;529;p19"/>
          <p:cNvSpPr txBox="1"/>
          <p:nvPr/>
        </p:nvSpPr>
        <p:spPr>
          <a:xfrm>
            <a:off x="5677154" y="1066778"/>
            <a:ext cx="652607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FASE 5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effettua una permutazione inversa a quella iniziale.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 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6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inverte semplicementi S</a:t>
            </a:r>
            <a:r>
              <a:rPr baseline="-25000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D</a:t>
            </a:r>
            <a:r>
              <a:rPr baseline="-25000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magine che contiene Elementi grafici, cerchio, Policromia&#10;&#10;Il contenuto generato dall&amp;#39;IA potrebbe non essere corretto." id="530" name="Google Shape;5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0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538" name="Google Shape;538;p20"/>
          <p:cNvSpPr txBox="1"/>
          <p:nvPr/>
        </p:nvSpPr>
        <p:spPr>
          <a:xfrm>
            <a:off x="95250" y="69097"/>
            <a:ext cx="99345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OLTRE AL DES</a:t>
            </a:r>
            <a:endParaRPr/>
          </a:p>
        </p:txBody>
      </p:sp>
      <p:sp>
        <p:nvSpPr>
          <p:cNvPr id="539" name="Google Shape;539;p20"/>
          <p:cNvSpPr txBox="1"/>
          <p:nvPr/>
        </p:nvSpPr>
        <p:spPr>
          <a:xfrm>
            <a:off x="-3209" y="910915"/>
            <a:ext cx="12206433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Triple DES : si applica 3 volte l'algoritmo DES (Chiavi da 198 bit, 164 effettivi)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IDEA: International Data Encryption Algorithm, algoritmo a blocchi da 64 bit con chiave da 128 bit. Non ancora violato.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AES: Advanced Encryption Standard, blocchi da 128 bit e chiavi a 128, 192 e 256 bit. Veloce e semplice da implementare, poca memoria e buona protezione. Si basa su una rete di sostituzione e permutazione, come il DES ma non è di Feistel.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540" name="Google Shape;5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2237" y="58367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1"/>
          <p:cNvSpPr/>
          <p:nvPr/>
        </p:nvSpPr>
        <p:spPr>
          <a:xfrm>
            <a:off x="0" y="863485"/>
            <a:ext cx="12192000" cy="4571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0" y="6408421"/>
            <a:ext cx="12192000" cy="44958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B51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ZANARDELLI ALESSIO</a:t>
            </a:r>
            <a:endParaRPr/>
          </a:p>
        </p:txBody>
      </p:sp>
      <p:sp>
        <p:nvSpPr>
          <p:cNvPr id="547" name="Google Shape;547;p21"/>
          <p:cNvSpPr txBox="1"/>
          <p:nvPr/>
        </p:nvSpPr>
        <p:spPr>
          <a:xfrm>
            <a:off x="5222202" y="2875002"/>
            <a:ext cx="174759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</a:t>
            </a:r>
            <a:endParaRPr/>
          </a:p>
        </p:txBody>
      </p:sp>
      <p:pic>
        <p:nvPicPr>
          <p:cNvPr descr="Immagine che contiene Elementi grafici, cerchio, Policromia&#10;&#10;Il contenuto generato dall&amp;#39;IA potrebbe non essere corretto." id="548" name="Google Shape;5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8855" y="65294"/>
            <a:ext cx="741219" cy="73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2023-09-24T16:34:50Z</dcterms:created>
  <dc:creator>alessio zanardelli</dc:creator>
</cp:coreProperties>
</file>