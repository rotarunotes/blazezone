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sy+TC7QQ5rdAYoX0UDwUJbuzd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3465923" y="2875002"/>
            <a:ext cx="5260158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CRITTOGRAFIA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RSA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8855" y="65294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884" y="909204"/>
            <a:ext cx="12189116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Dal nome degli inventori (Ronald Rivest, Adi Shamir e Leonard Adleman) sono stati i primi a implementare la crittografia a chiave asimmetrica nel 1978 presso il MIT.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tre inventori sono diventati poi anche imprenditori e nel 1986 hanno fondato la società RSA Data Security (Bedford, Massachusetts), divenuta nel 1996 semplicemente RSA Security.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sistema di crittografia si basa sull'esistenza di due chiavi distinte che vengono usate per cifrare e decifrare.</a:t>
            </a:r>
            <a:endParaRPr/>
          </a:p>
        </p:txBody>
      </p:sp>
      <p:pic>
        <p:nvPicPr>
          <p:cNvPr descr="Immagine che contiene testo, Carattere, logo, Elementi grafici&#10;&#10;Descrizione generata automaticamente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9390" y="3573985"/>
            <a:ext cx="2252361" cy="1590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Elementi grafici, cerchio, Policromia&#10;&#10;Il contenuto generato dall&amp;#39;IA potrebbe non essere corretto."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MATEMATICA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2884" y="909204"/>
            <a:ext cx="12189116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Divisibilità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Teorema della divisione (esistono unici quoziente e resto)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Identità di Bezout (1978, il mcd(a,b) è la minima combinazione lineare di a e b)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Algoritmo (esteso) di Euclide per il mcd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Strutture Congruenti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Aritmetica modulare (il resto è il modulo tra dividendo e divisore)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Strutture del quoziente (una classe equivalente è formata da interi con lo stesso modulo)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Teorema di Eulero (cruciale, ci serve per ricavare le chiavi)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teorema cinese del resto (Sun-Tsu, terzo secolo dopo Cristo)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Numeri primi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Teorema dei numeri primi (i numeri primi non sono pochi)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Teorema di Pomerance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INFORMATICA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2884" y="909204"/>
            <a:ext cx="121890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crittografare e viceversa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Potenza modulare (complessità cubica)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Esponenziale modulare (complessità quadratica)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Numeri primi (ci servono, bisogna trovarli grandi)</a:t>
            </a:r>
            <a:endParaRPr/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input (forse restituisce un numero primo)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Pseudoprimo (non sempre corretto, dice se un numero è composto)</a:t>
            </a:r>
            <a:endParaRPr/>
          </a:p>
          <a:p>
            <a:pPr indent="-1905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fissato</a:t>
            </a:r>
            <a:endParaRPr/>
          </a:p>
          <a:p>
            <a: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Miller-Rabin's Primality Test (non sempre corretto, dice se un numero è composto)</a:t>
            </a:r>
            <a:endParaRPr/>
          </a:p>
          <a:p>
            <a:pPr indent="-3810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Certificato di non primalità (random)</a:t>
            </a:r>
            <a:endParaRPr/>
          </a:p>
          <a:p>
            <a:pPr indent="-1905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 INTRODUZIONE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2884" y="909204"/>
            <a:ext cx="1218911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è il messaggio: stringhe binarie di lunghezza fissa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(esempio: codice ASCII dei caratteri).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 notare: se il messaggio è lungo, ripetere le operazioni di encoding.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Ogni partecipante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ha (crea) due chiavi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8001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chiave pubblica, è </a:t>
            </a:r>
            <a:r>
              <a:rPr lang="it-IT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distribuita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 tutti i partecipanti</a:t>
            </a:r>
            <a:endParaRPr/>
          </a:p>
          <a:p>
            <a:pPr indent="-342900" lvl="0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chiave segreta, è </a:t>
            </a:r>
            <a:r>
              <a:rPr lang="it-IT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conosciuta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solo da 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Char char="•"/>
            </a:pPr>
            <a:r>
              <a:rPr b="1" i="0" lang="it-IT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encoding del messaggio con la chiave pubblica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encoding del messaggio con la chiave segreta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 INTRODUZIONE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2884" y="909204"/>
            <a:ext cx="1218911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Proprietà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Char char="•"/>
            </a:pPr>
            <a:r>
              <a:rPr b="1" i="0" lang="it-IT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e </a:t>
            </a: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sono efficienti da computare date rispettivamente le chiavi </a:t>
            </a:r>
            <a:r>
              <a:rPr b="1" i="0" lang="it-IT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r>
              <a:rPr b="0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-IT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r>
              <a:rPr b="1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(ovvero le funzioni di encoding con chiave segreta e pubblica sono funzioni inverse)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Anche se </a:t>
            </a:r>
            <a:r>
              <a:rPr b="1" i="0" lang="it-IT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è conosciuto da tutti, è difficile da computare </a:t>
            </a: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r>
              <a:rPr b="1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senza la chiave</a:t>
            </a:r>
            <a:r>
              <a:rPr b="1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PROTOCOLLI DI COMUNICAZIONE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2884" y="909204"/>
            <a:ext cx="1218911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Passaggio di un messaggio segreto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Autenticazione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Combinazione tra messaggio segreto e autenticazione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PASSAGGIO DI UN MESSAGGIO SEGRETO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 segretamente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163" name="Google Shape;1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166" name="Google Shape;1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169" name="Google Shape;16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278291" y="3579459"/>
            <a:ext cx="32607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8766392" y="3569813"/>
            <a:ext cx="3260725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5247891" y="4871897"/>
            <a:ext cx="54775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74" name="Google Shape;17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PASSAGGIO DI UN MESSAGGIO SEGRETO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 segretamente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191" name="Google Shape;19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278291" y="3579459"/>
            <a:ext cx="326072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 rot="10800000">
            <a:off x="7513351" y="2903064"/>
            <a:ext cx="1808270" cy="752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" name="Google Shape;195;p9"/>
          <p:cNvSpPr txBox="1"/>
          <p:nvPr/>
        </p:nvSpPr>
        <p:spPr>
          <a:xfrm>
            <a:off x="7983769" y="2396719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8766392" y="3569813"/>
            <a:ext cx="3260725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 rot="10800000">
            <a:off x="2256515" y="2951291"/>
            <a:ext cx="1808270" cy="752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9"/>
          <p:cNvSpPr txBox="1"/>
          <p:nvPr/>
        </p:nvSpPr>
        <p:spPr>
          <a:xfrm>
            <a:off x="2726933" y="2444946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5247891" y="4871897"/>
            <a:ext cx="54775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200" name="Google Shape;20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PASSAGGIO DI UN MESSAGGIO SEGRETO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 segretamente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211" name="Google Shape;21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214" name="Google Shape;2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217" name="Google Shape;21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278291" y="3579459"/>
            <a:ext cx="326072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/>
          </a:p>
        </p:txBody>
      </p:sp>
      <p:cxnSp>
        <p:nvCxnSpPr>
          <p:cNvPr id="220" name="Google Shape;220;p10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1" name="Google Shape;221;p10"/>
          <p:cNvSpPr txBox="1"/>
          <p:nvPr/>
        </p:nvSpPr>
        <p:spPr>
          <a:xfrm>
            <a:off x="2881263" y="2396720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0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3" name="Google Shape;223;p10"/>
          <p:cNvSpPr txBox="1"/>
          <p:nvPr/>
        </p:nvSpPr>
        <p:spPr>
          <a:xfrm>
            <a:off x="7983769" y="2396719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8766392" y="3569813"/>
            <a:ext cx="32607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5247891" y="4871897"/>
            <a:ext cx="547757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226" name="Google Shape;22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PASSAGGIO DI UN MESSAGGIO SEGRETO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 segretamente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237" name="Google Shape;23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240" name="Google Shape;2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243" name="Google Shape;24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278291" y="3579459"/>
            <a:ext cx="326072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/>
          </a:p>
        </p:txBody>
      </p:sp>
      <p:cxnSp>
        <p:nvCxnSpPr>
          <p:cNvPr id="246" name="Google Shape;246;p11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7" name="Google Shape;247;p11"/>
          <p:cNvSpPr txBox="1"/>
          <p:nvPr/>
        </p:nvSpPr>
        <p:spPr>
          <a:xfrm>
            <a:off x="2881263" y="2396720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1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9" name="Google Shape;249;p11"/>
          <p:cNvSpPr txBox="1"/>
          <p:nvPr/>
        </p:nvSpPr>
        <p:spPr>
          <a:xfrm>
            <a:off x="7983769" y="2396719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8766392" y="3569813"/>
            <a:ext cx="32607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5247891" y="4871897"/>
            <a:ext cx="547757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1904999" y="5097683"/>
            <a:ext cx="2743199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 non può decifrare il messaggio perché non ha la 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8743707" y="5155556"/>
            <a:ext cx="2743199" cy="64633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decifra il messaggio con la sua chiave segreta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254" name="Google Shape;25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AUTENTICAZIONE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 La segretezza del messaggio non è richiesta.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265" name="Google Shape;2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268" name="Google Shape;26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271" name="Google Shape;27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278291" y="3579459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274" name="Google Shape;27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AUTENTICAZIONE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 La segretezza del messaggio non è richiesta.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285" name="Google Shape;2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288" name="Google Shape;2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291" name="Google Shape;2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278291" y="3579459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</p:txBody>
      </p:sp>
      <p:cxnSp>
        <p:nvCxnSpPr>
          <p:cNvPr id="294" name="Google Shape;294;p13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5" name="Google Shape;295;p13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6" name="Google Shape;296;p13"/>
          <p:cNvSpPr txBox="1"/>
          <p:nvPr/>
        </p:nvSpPr>
        <p:spPr>
          <a:xfrm>
            <a:off x="3046071" y="2332299"/>
            <a:ext cx="630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8003894" y="2332299"/>
            <a:ext cx="630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8766392" y="3569813"/>
            <a:ext cx="32607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5382929" y="4910479"/>
            <a:ext cx="28732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300" name="Google Shape;30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308" name="Google Shape;308;p14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AUTENTICAZIONE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 La segretezza del messaggio non è richiesta.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310" name="Google Shape;3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311" name="Google Shape;3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314" name="Google Shape;3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317" name="Google Shape;31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278291" y="3579459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</p:txBody>
      </p:sp>
      <p:cxnSp>
        <p:nvCxnSpPr>
          <p:cNvPr id="320" name="Google Shape;320;p14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1" name="Google Shape;321;p14"/>
          <p:cNvSpPr txBox="1"/>
          <p:nvPr/>
        </p:nvSpPr>
        <p:spPr>
          <a:xfrm>
            <a:off x="2225364" y="2416011"/>
            <a:ext cx="19695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 </a:t>
            </a: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; 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4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3" name="Google Shape;323;p14"/>
          <p:cNvSpPr txBox="1"/>
          <p:nvPr/>
        </p:nvSpPr>
        <p:spPr>
          <a:xfrm>
            <a:off x="8766392" y="3569813"/>
            <a:ext cx="32607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5382929" y="4910479"/>
            <a:ext cx="287327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 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7414680" y="2358137"/>
            <a:ext cx="19695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 </a:t>
            </a: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; 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326" name="Google Shape;32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AUTENTICAZIONE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 La segretezza del messaggio non è richiesta.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336" name="Google Shape;3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337" name="Google Shape;33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340" name="Google Shape;3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343" name="Google Shape;34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5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278291" y="3579459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</p:txBody>
      </p:sp>
      <p:cxnSp>
        <p:nvCxnSpPr>
          <p:cNvPr id="346" name="Google Shape;346;p15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7" name="Google Shape;347;p15"/>
          <p:cNvSpPr txBox="1"/>
          <p:nvPr/>
        </p:nvSpPr>
        <p:spPr>
          <a:xfrm>
            <a:off x="2225364" y="2416011"/>
            <a:ext cx="19695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 </a:t>
            </a: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; 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5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9" name="Google Shape;349;p15"/>
          <p:cNvSpPr txBox="1"/>
          <p:nvPr/>
        </p:nvSpPr>
        <p:spPr>
          <a:xfrm>
            <a:off x="8766392" y="3569813"/>
            <a:ext cx="32607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5382929" y="4910479"/>
            <a:ext cx="287327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 cifrato 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7414680" y="2358137"/>
            <a:ext cx="19695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 </a:t>
            </a: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; 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1798897" y="5097682"/>
            <a:ext cx="3254414" cy="1200329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 non può fingersi Bob perché non può inviare ad Alice il messaggio cifrato con la chiave segreta di Bob</a:t>
            </a:r>
            <a:endParaRPr/>
          </a:p>
        </p:txBody>
      </p:sp>
      <p:sp>
        <p:nvSpPr>
          <p:cNvPr id="353" name="Google Shape;353;p15"/>
          <p:cNvSpPr txBox="1"/>
          <p:nvPr/>
        </p:nvSpPr>
        <p:spPr>
          <a:xfrm>
            <a:off x="8762998" y="5155556"/>
            <a:ext cx="3148313" cy="107721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verifica che il messaggio corrisponde alla decifratura: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354" name="Google Shape;3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362" name="Google Shape;362;p16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MESSAGGIO SEGRETO AUTENTICATO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it-IT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segreto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364" name="Google Shape;3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365" name="Google Shape;3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6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368" name="Google Shape;36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6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371" name="Google Shape;37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6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278291" y="3579459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8766392" y="3569813"/>
            <a:ext cx="3260725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375" name="Google Shape;3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MESSAGGIO SEGRETO AUTENTICATO</a:t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it-IT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segreto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385" name="Google Shape;3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386" name="Google Shape;3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7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389" name="Google Shape;38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392" name="Google Shape;39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7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278291" y="3579459"/>
            <a:ext cx="326072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7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17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7" name="Google Shape;397;p17"/>
          <p:cNvSpPr txBox="1"/>
          <p:nvPr/>
        </p:nvSpPr>
        <p:spPr>
          <a:xfrm>
            <a:off x="8766392" y="3569813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</p:txBody>
      </p:sp>
      <p:cxnSp>
        <p:nvCxnSpPr>
          <p:cNvPr id="398" name="Google Shape;398;p17"/>
          <p:cNvCxnSpPr/>
          <p:nvPr/>
        </p:nvCxnSpPr>
        <p:spPr>
          <a:xfrm rot="10800000">
            <a:off x="7494060" y="2652279"/>
            <a:ext cx="1808270" cy="752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9" name="Google Shape;399;p17"/>
          <p:cNvSpPr txBox="1"/>
          <p:nvPr/>
        </p:nvSpPr>
        <p:spPr>
          <a:xfrm>
            <a:off x="7964478" y="2145934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7"/>
          <p:cNvCxnSpPr/>
          <p:nvPr/>
        </p:nvCxnSpPr>
        <p:spPr>
          <a:xfrm rot="10800000">
            <a:off x="2237224" y="2700506"/>
            <a:ext cx="1808270" cy="752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1" name="Google Shape;401;p17"/>
          <p:cNvSpPr txBox="1"/>
          <p:nvPr/>
        </p:nvSpPr>
        <p:spPr>
          <a:xfrm>
            <a:off x="2707642" y="2194161"/>
            <a:ext cx="9278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2882096" y="2968907"/>
            <a:ext cx="630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7839919" y="2968907"/>
            <a:ext cx="630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5382929" y="4910479"/>
            <a:ext cx="2873272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 pubblica 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405" name="Google Shape;40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13" name="Google Shape;413;p18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MESSAGGIO SEGRETO AUTENTICATO</a:t>
            </a:r>
            <a:endParaRPr/>
          </a:p>
        </p:txBody>
      </p:sp>
      <p:sp>
        <p:nvSpPr>
          <p:cNvPr id="414" name="Google Shape;414;p18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it-IT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segreto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415" name="Google Shape;4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416" name="Google Shape;4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8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419" name="Google Shape;4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8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421" name="Google Shape;421;p18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422" name="Google Shape;42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278291" y="3579459"/>
            <a:ext cx="326072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8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6" name="Google Shape;426;p18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7" name="Google Shape;427;p18"/>
          <p:cNvSpPr txBox="1"/>
          <p:nvPr/>
        </p:nvSpPr>
        <p:spPr>
          <a:xfrm>
            <a:off x="8766392" y="3569813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2051744" y="2377428"/>
            <a:ext cx="21335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)})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5382929" y="4910479"/>
            <a:ext cx="287327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 pubblica 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; 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 txBox="1"/>
          <p:nvPr/>
        </p:nvSpPr>
        <p:spPr>
          <a:xfrm>
            <a:off x="7318224" y="2377427"/>
            <a:ext cx="21335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)})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431" name="Google Shape;43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39" name="Google Shape;439;p19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MESSAGGIO SEGRETO AUTENTICATO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Abbiamo Bob che vuole mandare un messaggio 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it-IT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segreto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 Alice. Alice vuole essere sicura che sia stato Bob a inviare il messaggio.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filo femminile con riempimento a tinta unita" id="441" name="Google Shape;4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822" y="2359473"/>
            <a:ext cx="1259849" cy="1259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lo maschile con riempimento a tinta unita" id="442" name="Google Shape;4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297" y="2331250"/>
            <a:ext cx="1259849" cy="1259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9"/>
          <p:cNvSpPr/>
          <p:nvPr/>
        </p:nvSpPr>
        <p:spPr>
          <a:xfrm rot="5400000">
            <a:off x="5427945" y="1550880"/>
            <a:ext cx="506095" cy="2793544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 txBox="1"/>
          <p:nvPr/>
        </p:nvSpPr>
        <p:spPr>
          <a:xfrm>
            <a:off x="4347462" y="2694599"/>
            <a:ext cx="2603758" cy="50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CANALE NON SICURO</a:t>
            </a:r>
            <a:endParaRPr/>
          </a:p>
        </p:txBody>
      </p:sp>
      <p:pic>
        <p:nvPicPr>
          <p:cNvPr descr="Detective (maschile) con riempimento a tinta unita" id="445" name="Google Shape;4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7" y="3576772"/>
            <a:ext cx="1356304" cy="134665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9"/>
          <p:cNvSpPr txBox="1"/>
          <p:nvPr/>
        </p:nvSpPr>
        <p:spPr>
          <a:xfrm>
            <a:off x="9492364" y="1956533"/>
            <a:ext cx="1356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447" name="Google Shape;447;p19"/>
          <p:cNvSpPr txBox="1"/>
          <p:nvPr/>
        </p:nvSpPr>
        <p:spPr>
          <a:xfrm>
            <a:off x="926488" y="1872601"/>
            <a:ext cx="1167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pic>
        <p:nvPicPr>
          <p:cNvPr descr="Occhiali da sole con riempimento a tinta unita" id="448" name="Google Shape;44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921" y="3852013"/>
            <a:ext cx="414608" cy="3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9"/>
          <p:cNvSpPr/>
          <p:nvPr/>
        </p:nvSpPr>
        <p:spPr>
          <a:xfrm rot="-2624886">
            <a:off x="6089105" y="3311479"/>
            <a:ext cx="145498" cy="525771"/>
          </a:xfrm>
          <a:prstGeom prst="upDownArrow">
            <a:avLst>
              <a:gd fmla="val 33979" name="adj1"/>
              <a:gd fmla="val 92969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 txBox="1"/>
          <p:nvPr/>
        </p:nvSpPr>
        <p:spPr>
          <a:xfrm>
            <a:off x="278291" y="3579459"/>
            <a:ext cx="326072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9"/>
          <p:cNvCxnSpPr/>
          <p:nvPr/>
        </p:nvCxnSpPr>
        <p:spPr>
          <a:xfrm>
            <a:off x="2309293" y="2939528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2" name="Google Shape;452;p19"/>
          <p:cNvCxnSpPr/>
          <p:nvPr/>
        </p:nvCxnSpPr>
        <p:spPr>
          <a:xfrm>
            <a:off x="7411799" y="2939527"/>
            <a:ext cx="1799172" cy="211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3" name="Google Shape;453;p19"/>
          <p:cNvSpPr txBox="1"/>
          <p:nvPr/>
        </p:nvSpPr>
        <p:spPr>
          <a:xfrm>
            <a:off x="8766392" y="3569813"/>
            <a:ext cx="32607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segreta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/>
          </a:p>
        </p:txBody>
      </p:sp>
      <p:sp>
        <p:nvSpPr>
          <p:cNvPr id="454" name="Google Shape;454;p19"/>
          <p:cNvSpPr txBox="1"/>
          <p:nvPr/>
        </p:nvSpPr>
        <p:spPr>
          <a:xfrm>
            <a:off x="2051744" y="2377428"/>
            <a:ext cx="21335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)})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5382929" y="4910479"/>
            <a:ext cx="287327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 pubblica di Alice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it-IT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-I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pubblica di Bob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; 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 txBox="1"/>
          <p:nvPr/>
        </p:nvSpPr>
        <p:spPr>
          <a:xfrm>
            <a:off x="7318224" y="2377427"/>
            <a:ext cx="21335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)})</a:t>
            </a:r>
            <a:endParaRPr/>
          </a:p>
        </p:txBody>
      </p:sp>
      <p:sp>
        <p:nvSpPr>
          <p:cNvPr id="457" name="Google Shape;457;p19"/>
          <p:cNvSpPr txBox="1"/>
          <p:nvPr/>
        </p:nvSpPr>
        <p:spPr>
          <a:xfrm>
            <a:off x="8762998" y="5242366"/>
            <a:ext cx="3148313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decifra il messaggio poi verifica che il messaggio corrisponde alla decifratura: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 txBox="1"/>
          <p:nvPr/>
        </p:nvSpPr>
        <p:spPr>
          <a:xfrm>
            <a:off x="2049682" y="5657125"/>
            <a:ext cx="3254414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Charlie non può fare nulla...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459" name="Google Shape;45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67" name="Google Shape;467;p20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ASIMMETRIA DELLE CHIAVI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2884" y="909204"/>
            <a:ext cx="1218911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L'asimmetria che serve per cifrare e decifrare si basa sulla differenza di computazione di questi due problemi: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PRIMALITY: dato n, n è primo? (semplice)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FACTORING: dato n, quale è un suo possibile fattore? (difficile)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pratica: generare due numeri primi grandi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moltiplicarli per ottenere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 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è semplice, invece, dato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non è possibile ottenere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modo efficiente.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469" name="Google Shape;4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1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 DETTAGLI</a:t>
            </a:r>
            <a:endParaRPr/>
          </a:p>
        </p:txBody>
      </p:sp>
      <p:sp>
        <p:nvSpPr>
          <p:cNvPr id="478" name="Google Shape;478;p21"/>
          <p:cNvSpPr txBox="1"/>
          <p:nvPr/>
        </p:nvSpPr>
        <p:spPr>
          <a:xfrm>
            <a:off x="2884" y="909204"/>
            <a:ext cx="12189116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Prendere due numeri primi grandi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p,q 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 una grandezza specifica (livello di sicurezza, almeno 1024 bit)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Calcolare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p*q.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Questo numero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definisce anche il dominio dei messaggi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Calcolare </a:t>
            </a:r>
            <a:r>
              <a:rPr lang="it-IT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phi(n)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(p-1)(q-1). (Da Eulero)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Selezionare un numero intero "piccolo" 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tale che mcd(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it-IT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phi(n)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1 (no fattori in comune)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Calcolare 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baseline="30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-1 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dall'equazione (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mod[</a:t>
            </a:r>
            <a:r>
              <a:rPr lang="it-IT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phi(n)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 (Algoritmo di Euclide esteso)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Infine: </a:t>
            </a:r>
            <a:r>
              <a:rPr b="1"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,n), 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,n)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479" name="Google Shape;4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2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87" name="Google Shape;487;p22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 DETTAGLI</a:t>
            </a: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2884" y="909204"/>
            <a:ext cx="1218911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,n), </a:t>
            </a: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,n)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ogni messaggio 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di lunghezza n abbiamo: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1" i="0" lang="it-IT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30000" i="0" lang="it-IT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mod(n)</a:t>
            </a:r>
            <a:endParaRPr/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</a:t>
            </a:r>
            <a:r>
              <a:rPr b="1" i="0" lang="it-IT" sz="24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30000" i="0" lang="it-IT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r>
              <a:rPr b="0" i="0" lang="it-IT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mod(n)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489" name="Google Shape;4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3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97" name="Google Shape;497;p23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 ESEMPIO</a:t>
            </a:r>
            <a:endParaRPr/>
          </a:p>
        </p:txBody>
      </p:sp>
      <p:sp>
        <p:nvSpPr>
          <p:cNvPr id="498" name="Google Shape;498;p23"/>
          <p:cNvSpPr txBox="1"/>
          <p:nvPr/>
        </p:nvSpPr>
        <p:spPr>
          <a:xfrm>
            <a:off x="2884" y="909204"/>
            <a:ext cx="121890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MESSAGGIO: Zuccante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400">
                <a:latin typeface="Calibri"/>
                <a:ea typeface="Calibri"/>
                <a:cs typeface="Calibri"/>
                <a:sym typeface="Calibri"/>
              </a:rPr>
              <a:t>0101101001110101011000110110001101100001011011100111010001100101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Scelgo p = 17, q = 5 e calcolo n = p*q = 85. Dominio dei messaggi: i bit in decimale non devono superare il numero 85 </a:t>
            </a:r>
            <a:r>
              <a:rPr lang="it-IT" sz="2400"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baseline="30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gruppi di 6 bit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0101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101001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110101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011000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110110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001101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100001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011011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100111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010001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100101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r>
              <a:rPr lang="it-IT" sz="2400"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Calcoliamo </a:t>
            </a:r>
            <a:r>
              <a:rPr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phi(n)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(p-1)*(q-1) = 64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Calcoliamo 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tale che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mcd(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it-IT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phi(n)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1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ovvero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Kp=3 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calcoliamo</a:t>
            </a:r>
            <a:r>
              <a:rPr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Ks = 43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499" name="Google Shape;4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4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507" name="Google Shape;507;p24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RSA ESEMPIO</a:t>
            </a:r>
            <a:endParaRPr/>
          </a:p>
        </p:txBody>
      </p:sp>
      <p:sp>
        <p:nvSpPr>
          <p:cNvPr id="508" name="Google Shape;508;p24"/>
          <p:cNvSpPr txBox="1"/>
          <p:nvPr/>
        </p:nvSpPr>
        <p:spPr>
          <a:xfrm>
            <a:off x="2884" y="909204"/>
            <a:ext cx="12189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400"/>
              <a:buChar char="•"/>
            </a:pP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</a:t>
            </a:r>
            <a:r>
              <a:rPr lang="it-IT" sz="2400">
                <a:latin typeface="Calibri"/>
                <a:ea typeface="Calibri"/>
                <a:cs typeface="Calibri"/>
                <a:sym typeface="Calibri"/>
              </a:rPr>
              <a:t>43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,85) ; </a:t>
            </a:r>
            <a:r>
              <a:rPr b="1"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</a:t>
            </a:r>
            <a:r>
              <a:rPr lang="it-IT" sz="24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,85)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Cifratura del messaggio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1" lang="it-IT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baseline="-25000"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it-IT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baseline="-25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aseline="30000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mod(85)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r>
              <a:rPr baseline="30000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mod(85)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r>
              <a:rPr baseline="30000"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mod(85)</a:t>
            </a:r>
            <a:r>
              <a:rPr lang="it-IT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b="1"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it-IT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r>
              <a:rPr lang="it-IT" sz="2400">
                <a:latin typeface="Calibri"/>
                <a:ea typeface="Calibri"/>
                <a:cs typeface="Calibri"/>
                <a:sym typeface="Calibri"/>
              </a:rPr>
              <a:t>71</a:t>
            </a:r>
            <a:r>
              <a:rPr lang="it-IT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r>
              <a:rPr lang="it-IT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Decifratura del messaggio</a:t>
            </a: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???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509" name="Google Shape;5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5222202" y="2875002"/>
            <a:ext cx="174759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517" name="Google Shape;5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8855" y="65294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2023-09-24T16:34:50Z</dcterms:created>
  <dc:creator>alessio zanardelli</dc:creator>
</cp:coreProperties>
</file>